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5" r:id="rId42"/>
    <p:sldId id="296" r:id="rId43"/>
    <p:sldId id="297" r:id="rId44"/>
    <p:sldId id="298" r:id="rId45"/>
    <p:sldId id="299" r:id="rId46"/>
    <p:sldId id="300" r:id="rId47"/>
  </p:sldIdLst>
  <p:sldSz cx="9144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0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数据结构》的课堂。今天我们将一起学习第一章——绪论。数据结构是计算机科学的基石，它不仅是后续所有专业课程的基础，更是衡量我们编程能力和专业素养的关键。在本章中，我们将了解什么是数据结构，为什么它如此重要，以及如何为后续的学习打下坚实的基础。让我们一起开启这段精彩的学习旅程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首先，我们来思考一个问题：为什么我们要学习数据结构？简单来说，数据结构是计算机科学的骨架。想象一下，任何复杂的软件系统，无论是操作系统、数据库还是人工智能应用，其底层都依赖于高效的数据组织方式。就像在一个巨大的图书馆里找书，如果书籍没有被合理地分类和摆放，找一本书将会是大海捞针。数据结构就是教我们如何“摆放”数据，让我们的程序能够高效地运行。</a:t>
            </a:r>
            <a:endParaRPr lang="en-US" sz="1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本章的学习，我们希望达到四个目标。首先是“理解”，要搞清楚数据结构的基本概念。其次是“掌握”，要能分析不同结构的优劣并做出选择。更重要的是“应用”，要能将所学知识用于解决实际问题。最终，我们希望通过这门课程“提升”大家的抽象思维和逻辑推理能力，这些都是成为一名优秀程序员不可或缺的素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系统地学习本章内容，我们将按照这个路线图进行。首先，我们会对数据结构有一个整体的认识。然后，我们会学习一些基本的概念和术语，这是我们后续交流的基础。接着，我们会接触到抽象数据类型，这是一种非常重要的思想。最后，我们将学习如何分析算法的效率。希望这个路线图能帮助大家更好地掌握学习脉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第一章的详细目录。我们将从“什么是数据结构”开始，逐步深入到基本概念、抽象数据类型，最后以算法和算法分析作为本章的重点。每个小节都包含了核心的知识点和实践应用，希望大家能跟上节奏，掌握每一个部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现在，让我们正式进入第一小节的学习：什么是数据结构。我们将通过生活中的例子，来直观地感受数据结构的魅力和重要性。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一个生活中的例子：图书馆的图书管理。如果10万本书随意堆放，找一本书会非常困难。但如果我们按主题分类，再按作者排序，查找效率就会大大提高。这个“组织方式”就是我们所说的数据结构。它直接决定了我们操作数据的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类似的例子还有很多。比如查字典，我们不会从头翻到尾，而是利用索引。在计算机中，操作系统用队列来管理进程，数据库用树来建立索引。这些都是数据结构在实际中的应用。它们共同的特点是，通过合理的结构设计，极大地提升了操作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数据结构呢？从形式上看，它是带有特定关系的数据元素的集合。这里有两个关键词：数据元素和关系。数据元素是我们要处理的对象，而关系则定义了它们之间的组织方式。通俗地讲，数据结构就是“数据”加上“结构”，研究如何把数据组织起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结构主要研究三个方面的内容。首先是逻辑结构，它描述了数据元素之间的抽象关系。其次是物理结构，也叫存储结构，它关注数据在计算机内存中的实际存储方式。最后是数据的运算，即我们可以对这些数据进行哪些操作，比如插入、删除和查找。这三者共同构成了数据结构的完整概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好了，学完第一部分，我们来做几道练习题巩固一下。请看这几道选择题，思考一下数据结构的研究内容、逻辑结构的应用以及它的广泛应用领域。大家可以先独立思考，我们稍后会公布答案。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接下来是填空题和简答题。填空题考察大家对基本定义的记忆，而简答题则希望大家能将所学知识与生活联系起来。请大家尝试回答这些问题，这有助于加深对数据结构概念的理解。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几个最基本的术语。数据，是我们处理的对象。数据元素，是数据的基本单位，比如一个学生记录。数据项，是数据元素的最小组成部分，比如学生的姓名。而数据对象，则是性质相同的数据元素的集合，比如全体学生的集合。它们之间是层层包含的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学习数据的逻辑结构。首先是集合结构，它非常简单，数据元素之间没有特定的顺序关系，就像一个班级里的学生，他们只是属于同一个集体。然后是线性结构，数据元素之间是一对一的关系，就像我们排队一样，每个人都有一个前一个和后一个，形成一条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着是树形结构，它体现了一对多的层次关系，就像公司的组织架构图，一个经理可以管理多个员工。最后是图形结构，它是最复杂的一种，数据元素之间是多对多的关系，比如社交网络中，每个人都可以有很多朋友，形成一个复杂的网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直观地理解这四种逻辑结构，我们来看一下它们的图示。集合结构就是一群孤立的点。线性结构像一条线。树形结构像一棵倒置的树。而图形结构则是由顶点和边组成的复杂网络。通过这些图，我们可以清晰地看到不同结构中数据元素之间关系的差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逻辑结构，我们再来看看物理结构，也就是数据在计算机内存中的存储方式。主要有两种：顺序存储和链式存储。顺序存储就像在一排连续的储物柜里放东西，每个物品的位置是固定的，我们可以通过编号直接找到。而链式存储则像一串珍珠，每个珍珠（数据元素）都通过一根线（指针）连接起来，它们可以散落在不同的地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两种存储结构各有优缺点。顺序存储的优点是可以快速访问任意元素，并且节省空间。但缺点是插入和删除时需要移动大量数据，效率不高。链式存储则正好相反，插入和删除非常方便，只需改变指针指向即可，但它不能随机访问，并且每个元素都需要额外的空间来存储指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学完了基本概念和术语，我们再来做几道练习题。这些题目涵盖了数据元素的定义、逻辑结构与物理结构的区别，以及常见结构的分类。请大家仔细阅读题目，选出正确的答案。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这是第二部分的填空题和简答题。填空题帮助我们巩固基本概念，而简答题则要求我们深入理解不同结构的特点和区别。请大家认真思考并回答，这对于我们后续学习具体的数据结构至关重要。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接下来，我们进入第三小节，学习一个非常重要的概念——抽象数据类型，简称ADT。它将帮助我们从更高的层次来思考数据和操作。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那么，什么是抽象数据类型呢？简单来说，它是一种思想，一种“抽象”和“封装”的思想。我们只关心一个数据类型能做什么（比如栈可以入栈和出栈），而不关心它内部是如何实现的。这种思想可以大大降低程序的复杂性，提高代码的复用性。</a:t>
            </a:r>
            <a:endParaRPr lang="en-US" sz="1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抽象数据类型由三部分组成：数据对象、数据关系和基本操作。数据对象定义了它包含什么数据，数据关系定义了数据之间的关系，基本操作定义了可以对这些数据做什么。我们通常用这种标准化的格式来描述一个ADT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一个具体的例子：复数。我们可以为复数定义一个ADT。它的数据对象是两个实数，分别代表实部和虚部。数据关系是这两个数共同构成一个复数。基本操作包括初始化、获取实部虚部、加法和减法。通过这个定义，我们就明确了复数这个ADT能做什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定义了ADT之后，我们就可以用具体的编程语言来实现它。比如在C语言中，我们可以用一个结构体来存储复数的实部和虚部，然后编写函数来实现加法、减法等操作。这就是ADT的“实现”部分，它隐藏在接口背后，用户不需要关心具体代码，只需调用这些函数即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关于抽象数据类型，我们来做几道题。这些题目主要考察大家对ADT核心思想的理解，包括它的抽象性、封装性，以及它与具体实现的关系。请大家仔细分析每个选项。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这是第三部分的填空题和简答题。填空题考察ADT的组成和核心思想。简答题则要求大家动手实践，为一个常见的数据结构“栈”写出ADT定义。这是一个很好的练习，可以帮助大家真正掌握ADT的定义方法。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现在我们进入本章的最后一个，也是非常重要的一个小节：算法和算法分析。我们将学习如何评价一个程序的“好坏”。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什么是算法？算法就是解决问题的步骤。一个有效的算法必须具备五个特性：有穷性，即它必须能结束；确定性，即每一步都清晰明确；可行性，即每一步都能实际执行；输入和输出，即它需要有输入并产生输出。这五个特性是判断一个过程是否为算法的基本标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设计一个好的算法，除了要满足基本特性外，还需要达到一些更高的要求。首先是正确性，这是最基本的。其次是可读性，好的代码应该让人容易理解。然后是健壮性，能够处理异常情况。最后是高效率，这也是我们接下来要重点讨论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何衡量算法的效率呢？主要看两个方面：时间复杂度和空间复杂度。我们先看时间复杂度。它描述的是算法执行时间随问题规模增长的趋势。我们通常使用大O表示法来简化描述，只关注最高次项，比如3n+2的时间复杂度就是O(n)，n²+5n+10的时间复杂度就是O(n²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列出了一些常见的时间复杂度。从O(1)常数阶开始，效率最高，执行时间固定。然后是O(logn)对数阶，O(n)线性阶，O(nlogn)线性对数阶，O(n²)平方阶，效率依次降低。最后是O(2ⁿ)指数阶，效率非常低，应尽量避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清晰地展示了不同时间复杂度的增长曲线。可以看到，随着问题规模n的增大，O(n²)和O(2ⁿ)的曲线急剧上升，而O(logn)和O(n)的曲线则平缓得多。这告诉我们，选择一个时间复杂度低的算法，对于程序的性能有着决定性的影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除了时间，我们还要考虑空间。空间复杂度衡量的是算法运行时所需的额外存储空间。我们主要关注的是除了输入数据之外，算法临时开辟的空间。比如，如果一个算法只使用了几个变量，它的空间复杂度就是O(1)。如果它需要创建一个大小为n的数组，空间复杂度就是O(n)。</a:t>
            </a:r>
            <a:endParaRPr lang="en-US" sz="1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两个具体的例子。顺序查找，它需要从头到尾遍历数组，最坏情况下要执行n次，所以时间复杂度是O(n)。而冒泡排序，它有两层嵌套循环，内层循环的执行次数大约是n²/2次，所以时间复杂度是O(n²)。通过分析代码中的循环结构，我们可以快速判断出算法的时间复杂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最后一部分的练习题来了。这些题目考察了算法的基本特性和时间复杂度的概念。请大家仔细阅读题目，理解每个选项的含义，特别是关于时间复杂度的比较和理解。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最后一部分的填空题和简答题。填空题帮助我们回顾算法的特性和复杂度分析的基本概念。简答题则要求我们实际分析一段代码的时间复杂度，这是算法分析的基本技能。请大家尝试分析一下这段循环代码的时间复杂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一下，本章我们为大家打开了数据结构世界的大门。我们理解了数据结构的重要性，并掌握了分析算法效率的基本方法。在接下来的课程中，我们将深入学习线性表、栈、队列、树、图等具体的数据结构。请大家记住，选择合适的数据结构，是写出高效程序的关键。希望大家能继续保持热情，迎接新的挑战！</a:t>
            </a:r>
            <a:endParaRPr lang="en-US" sz="1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公布前面部分习题的答案。第一部分的选择题答案是D、A、D。填空题考察了数据元素的定义和数据结构的研究内容。第二部分的选择题答案是B、C、B、A。填空题考察了数据项的定义以及逻辑结构和物理结构的分类。大家可以对照答案，检查自己的掌握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第三和第四部分的答案。第三部分的选择题答案是C、C。填空题考察了ADT的组成和核心思想。第四部分的选择题答案是C、B、A。填空题考察了算法的特性和复杂度分析。简答题的时间复杂度分析答案分别是O(logn)和O(n²)。希望大家都做对了！如果有疑问，可以课后再仔细研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914900"/>
            <a:ext cx="9144000" cy="1092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0BE89">
                  <a:alpha val="100000"/>
                </a:srgbClr>
              </a:gs>
              <a:gs pos="93000">
                <a:srgbClr val="008F67">
                  <a:alpha val="100000"/>
                </a:srgbClr>
              </a:gs>
            </a:gsLst>
            <a:lin ang="1824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426200" y="4914900"/>
            <a:ext cx="2730500" cy="1092200"/>
          </a:xfrm>
          <a:prstGeom prst="roundRect">
            <a:avLst>
              <a:gd name="adj" fmla="val 0"/>
            </a:avLst>
          </a:prstGeom>
          <a:solidFill>
            <a:srgbClr val="005F45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7795" y="448945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12800" y="4419600"/>
            <a:ext cx="3225800" cy="609600"/>
          </a:xfrm>
          <a:prstGeom prst="ellipse">
            <a:avLst/>
          </a:prstGeom>
          <a:solidFill>
            <a:srgbClr val="005F45">
              <a:alpha val="4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0900" y="2324100"/>
            <a:ext cx="3365500" cy="2209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09600" y="5422900"/>
            <a:ext cx="368300" cy="76200"/>
          </a:xfrm>
          <a:prstGeom prst="roundRect">
            <a:avLst>
              <a:gd name="adj" fmla="val 0"/>
            </a:avLst>
          </a:prstGeom>
          <a:solidFill>
            <a:srgbClr val="BFFFED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 rot="5400000">
            <a:off x="622300" y="1333500"/>
            <a:ext cx="203200" cy="177800"/>
          </a:xfrm>
          <a:prstGeom prst="triangle">
            <a:avLst>
              <a:gd name="adj" fmla="val 50000"/>
            </a:avLst>
          </a:prstGeom>
          <a:solidFill>
            <a:srgbClr val="00BE8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 rot="5400000">
            <a:off x="800100" y="1333500"/>
            <a:ext cx="203200" cy="177800"/>
          </a:xfrm>
          <a:prstGeom prst="triangle">
            <a:avLst>
              <a:gd name="adj" fmla="val 50000"/>
            </a:avLst>
          </a:prstGeom>
          <a:solidFill>
            <a:srgbClr val="00BE8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0" name="Connector 10"/>
          <p:cNvCxnSpPr/>
          <p:nvPr/>
        </p:nvCxnSpPr>
        <p:spPr>
          <a:xfrm>
            <a:off x="1333500" y="5461000"/>
            <a:ext cx="331472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-246380" y="279400"/>
            <a:ext cx="4165600" cy="2286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数据结构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92805" y="2413000"/>
            <a:ext cx="4165600" cy="1016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第一章 绪论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1270000"/>
            <a:ext cx="8077200" cy="411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254000" indent="-254000" algn="l">
              <a:lnSpc>
                <a:spcPct val="108000"/>
              </a:lnSpc>
              <a:spcBef>
                <a:spcPct val="20000"/>
              </a:spcBef>
              <a:buClr>
                <a:srgbClr val="05413B"/>
              </a:buClr>
              <a:buFont typeface="Wingdings" panose="05000000000000000000"/>
              <a:buChar char="l"/>
              <a:defRPr/>
            </a:pPr>
            <a:r>
              <a:rPr lang="en-US" sz="2000" b="1" i="0" u="none" strike="noStrike">
                <a:solidFill>
                  <a:srgbClr val="0541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计算机科学的核心基石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它是计算机学科的源头课程，是操作系统、数据库系统、编译原理、人工智能等进阶领域的底层支撑，决定了对计算机世界的认知深度。</a:t>
            </a:r>
            <a:endParaRPr lang="en-US" sz="1100"/>
          </a:p>
          <a:p>
            <a:pPr marL="254000" indent="-254000" algn="l">
              <a:lnSpc>
                <a:spcPct val="108000"/>
              </a:lnSpc>
              <a:spcBef>
                <a:spcPct val="20000"/>
              </a:spcBef>
              <a:buClr>
                <a:srgbClr val="05413B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541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程序的骨架与效率引擎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研究数据的组织、存储与处理方式，是编写高效、优雅代码的前提，也是区分程序员专业素养与解决复杂问题能力的关键标尺。</a:t>
            </a:r>
            <a:endParaRPr lang="en-US" sz="16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-254000" algn="l">
              <a:lnSpc>
                <a:spcPct val="108000"/>
              </a:lnSpc>
              <a:spcBef>
                <a:spcPct val="20000"/>
              </a:spcBef>
              <a:buClr>
                <a:srgbClr val="05413B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541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解决现实问题的思维模型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正如百万藏书的图书馆需要科学的索引与分类，数据结构教会我们如何对海量信息进行“结构化管理”，让复杂问题的求解变得有序且高效。</a:t>
            </a:r>
            <a:endParaRPr lang="en-US" sz="16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60350" y="487807"/>
            <a:ext cx="8102600" cy="5461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为什么学习数据结构？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406400" indent="-4064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32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本章学习目标</a:t>
            </a:r>
            <a:endParaRPr lang="en-US" sz="1100"/>
          </a:p>
          <a:p>
            <a:pPr marL="254000" indent="-254000" algn="l">
              <a:lnSpc>
                <a:spcPct val="108000"/>
              </a:lnSpc>
              <a:spcBef>
                <a:spcPct val="30000"/>
              </a:spcBef>
              <a:buClr>
                <a:srgbClr val="1F2329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理解核心理论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4348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透彻掌握数据结构的基本概念、分类体系与核心原理，厘清逻辑结构与物理存储结构的关联，构建稳固的计算机基础理论框架。</a:t>
            </a:r>
            <a:endParaRPr lang="en-US" sz="1600" b="0" i="0" u="none" strike="noStrike">
              <a:solidFill>
                <a:srgbClr val="4348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-254000" algn="l">
              <a:lnSpc>
                <a:spcPct val="108000"/>
              </a:lnSpc>
              <a:spcBef>
                <a:spcPct val="30000"/>
              </a:spcBef>
              <a:buClr>
                <a:srgbClr val="1F2329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掌握选型逻辑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4348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深入分析数组、链表、栈、队列、树、图等结构的优劣与适用场景，能够依据问题特征与性能要求，科学选择并灵活运用合适的数据结构。</a:t>
            </a:r>
            <a:endParaRPr lang="en-US" sz="1600" b="0" i="0" u="none" strike="noStrike">
              <a:solidFill>
                <a:srgbClr val="4348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-254000" algn="l">
              <a:lnSpc>
                <a:spcPct val="108000"/>
              </a:lnSpc>
              <a:spcBef>
                <a:spcPct val="30000"/>
              </a:spcBef>
              <a:buClr>
                <a:srgbClr val="1F2329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强化实践应用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4348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能够运用数据结构与算法思想解决实际编程难题，熟练实现排序、查找、递归等经典算法，具备独立进行代码优化与效率分析的能力。</a:t>
            </a:r>
            <a:endParaRPr lang="en-US" sz="1600" b="0" i="0" u="none" strike="noStrike">
              <a:solidFill>
                <a:srgbClr val="4348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-254000" algn="l">
              <a:lnSpc>
                <a:spcPct val="108000"/>
              </a:lnSpc>
              <a:spcBef>
                <a:spcPct val="30000"/>
              </a:spcBef>
              <a:buClr>
                <a:srgbClr val="1F2329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提升思维能力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4348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在学习过程中培养抽象思维、逻辑推理与问题拆解能力，提升算法设计与复杂系统分析的思维高度，为进阶开发与技术深耕筑牢根基。</a:t>
            </a:r>
            <a:endParaRPr lang="en-US" sz="1600" b="0" i="0" u="none" strike="noStrike">
              <a:solidFill>
                <a:srgbClr val="4348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6435" y="1475105"/>
            <a:ext cx="8102600" cy="32346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200" b="1" i="0" u="none" strike="noStrike">
                <a:solidFill>
                  <a:srgbClr val="05413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 </a:t>
            </a: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数据结构概述</a:t>
            </a:r>
            <a:endParaRPr lang="en-US" sz="1100"/>
          </a:p>
          <a:p>
            <a:pPr marL="609600" indent="0" algn="l">
              <a:lnSpc>
                <a:spcPct val="100000"/>
              </a:lnSpc>
              <a:spcBef>
                <a:spcPct val="10000"/>
              </a:spcBef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揭开数据结构的面纱，深入理解其定义与核心价值，明白它为何是程序设计的基石。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2200" b="1" i="0" u="none" strike="noStrike">
                <a:solidFill>
                  <a:srgbClr val="05413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 </a:t>
            </a: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基本概念与术语</a:t>
            </a: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09600" indent="0" algn="l">
              <a:lnSpc>
                <a:spcPct val="100000"/>
              </a:lnSpc>
              <a:spcBef>
                <a:spcPct val="10000"/>
              </a:spcBef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夯实理论基础，熟悉数据、数据元素、逻辑结构与物理结构等领域通用的专业术语。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2200" b="1" i="0" u="none" strike="noStrike">
                <a:solidFill>
                  <a:srgbClr val="05413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 </a:t>
            </a: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抽象数据类型 (ADT)</a:t>
            </a: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09600" indent="0" algn="l">
              <a:lnSpc>
                <a:spcPct val="100000"/>
              </a:lnSpc>
              <a:spcBef>
                <a:spcPct val="10000"/>
              </a:spcBef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学习从逻辑层面抽象数据特性，掌握“数据+操作”的封装思想，建立模块化编程思维。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2200" b="1" i="0" u="none" strike="noStrike">
                <a:solidFill>
                  <a:srgbClr val="05413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 </a:t>
            </a: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算法与算法分析</a:t>
            </a: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09600" indent="0" algn="l">
              <a:lnSpc>
                <a:spcPct val="100000"/>
              </a:lnSpc>
              <a:spcBef>
                <a:spcPct val="10000"/>
              </a:spcBef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理解算法的五大核心特性，学会用时间复杂度与空间复杂度来科学衡量程序的优劣。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31800" y="279400"/>
            <a:ext cx="8102600" cy="5461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本章学习路线图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20700" y="1447800"/>
            <a:ext cx="8102600" cy="467042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609600" indent="-609600" algn="l">
              <a:lnSpc>
                <a:spcPct val="250000"/>
              </a:lnSpc>
              <a:spcBef>
                <a:spcPct val="20000"/>
              </a:spcBef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1.1</a:t>
            </a: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什么是数据结构</a:t>
            </a:r>
            <a:endParaRPr lang="en-US" sz="1100"/>
          </a:p>
          <a:p>
            <a:pPr marL="609600" indent="-609600" algn="l">
              <a:lnSpc>
                <a:spcPct val="250000"/>
              </a:lnSpc>
              <a:spcBef>
                <a:spcPct val="20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1.2</a:t>
            </a: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基本概念和术语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09600" indent="-609600" algn="l">
              <a:lnSpc>
                <a:spcPct val="250000"/>
              </a:lnSpc>
              <a:spcBef>
                <a:spcPct val="20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1.3</a:t>
            </a: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抽象数据类型的表示与实现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09600" indent="-609600" algn="l">
              <a:lnSpc>
                <a:spcPct val="250000"/>
              </a:lnSpc>
              <a:spcBef>
                <a:spcPct val="20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1.4</a:t>
            </a: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算法和算法分析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31800" y="279400"/>
            <a:ext cx="8102600" cy="5461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第一章   绪论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37515" y="30607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1.1</a:t>
            </a:r>
            <a:r>
              <a:rPr lang="en-US" sz="3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什么是数据结构</a:t>
            </a:r>
            <a:endParaRPr lang="en-US" sz="1100"/>
          </a:p>
          <a:p>
            <a:pPr marL="342900" indent="-342900" algn="l">
              <a:lnSpc>
                <a:spcPct val="125000"/>
              </a:lnSpc>
              <a:spcBef>
                <a:spcPct val="50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endParaRPr lang="en-US" sz="20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25000"/>
              </a:lnSpc>
              <a:spcBef>
                <a:spcPct val="50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endParaRPr lang="en-US" sz="20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25000"/>
              </a:lnSpc>
              <a:spcBef>
                <a:spcPct val="50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r>
              <a:rPr lang="en-US" sz="20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结构是计算机存储、组织数据的方式，它不仅是数据的容器，更是高效处理信息的骨架。就像图书馆对书籍的分类编号、超市对商品的分区摆放，合理的数据结构能让我们在海量信息中快速检索、增删和处理数据，是构建高效算法与软件系统的基石。</a:t>
            </a:r>
            <a:endParaRPr lang="en-US" sz="20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82600" y="533400"/>
            <a:ext cx="7645400" cy="516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spcBef>
                <a:spcPct val="20000"/>
              </a:spcBef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问题引入：图书馆的图书管理难题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ct val="40000"/>
              </a:spcBef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场景：一座图书馆新进了10万本图书，如何摆放才能让读者快速找到目标书籍，同时让管理员高效完成上架与整理？这正是数据结构要解决的核心——</a:t>
            </a: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如何组织数据以提升操作效率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ct val="50000"/>
              </a:spcBef>
            </a:pPr>
            <a:r>
              <a:rPr lang="en-US" sz="16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方案一：随意堆放（无结构）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将书籍杂乱堆叠，无任何分类规则。此时查找一本书如同“大海捞针”，无论是读者检索还是管理员维护，效率都极其低下，时间复杂度极高。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ct val="30000"/>
              </a:spcBef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方案二：按主题分类（简单结构）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将计算机、文学、历史等书籍划分至独立区域。这相当于为数据建立了“一级索引”，大幅缩小了检索范围，让查找效率得到质的飞跃。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ct val="30000"/>
              </a:spcBef>
            </a:pPr>
            <a:r>
              <a:rPr lang="en-US" sz="16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方案三：主题+有序排列（优化结构）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在主题分类基础上，进一步按作者姓氏首字母（A-Z）或索书号排序。这种多层级的有序组织，实现了数据的“精准定位”，让查找与管理达到最高效率。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spcBef>
                <a:spcPct val="50000"/>
              </a:spcBef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核心结论：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不同的数据组织方式（数据结构），直接决定了数据操作（查找、增删、修改）的效率。选择合适的结构，是构建高效系统的底层逻辑。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82600" y="533400"/>
            <a:ext cx="7645400" cy="516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01、生活中的缩影：查字典的智慧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ct val="15000"/>
              </a:spcBef>
            </a:pPr>
            <a:r>
              <a:rPr lang="en-US" sz="18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无需逐页翻阅，利用拼音/部首索引的有序结构，就能快速锁定目标词条，这是“索引与查找”的基础体现。</a:t>
            </a:r>
            <a:endParaRPr lang="en-US" sz="18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02、计算机的调度：进程队列的奥秘</a:t>
            </a:r>
            <a:endParaRPr lang="en-US" sz="28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ct val="15000"/>
              </a:spcBef>
            </a:pPr>
            <a:r>
              <a:rPr lang="en-US" sz="18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操作系统通过“队列结构”组织就绪进程，遵循先进先出规则，实现CPU资源的公平、高效分配与流转。</a:t>
            </a:r>
            <a:endParaRPr lang="en-US" sz="18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03、海量数据的检索：数据库索引树</a:t>
            </a:r>
            <a:endParaRPr lang="en-US" sz="28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ct val="15000"/>
              </a:spcBef>
            </a:pPr>
            <a:r>
              <a:rPr lang="en-US" sz="18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利用“树状结构”构建数据库索引，将无序的海量数据梳理为层级化的有序索引，让毫秒级查询成为可能。</a:t>
            </a:r>
            <a:endParaRPr lang="en-US" sz="18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ct val="40000"/>
              </a:spcBef>
            </a:pPr>
            <a:r>
              <a:rPr lang="en-US" sz="2000" b="1" i="0" u="none" strike="noStrike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核心结论：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合理的结构设计是效率的基石，数据结构让无序信息变得有序，让复杂的计算与检索操作实现质的飞跃。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800100" indent="-457200"/>
            <a:lvl2pPr marL="1257300" indent="-457200"/>
            <a:lvl3pPr marL="1714500" indent="-457200"/>
            <a:lvl4pPr marL="2171700" indent="-457200"/>
            <a:lvl5pPr marL="2628900" indent="-457200"/>
            <a:lvl6pPr marL="3086100" indent="-457200"/>
            <a:lvl7pPr marL="3543300" indent="-457200"/>
            <a:lvl8pPr marL="4000500" indent="-457200"/>
            <a:lvl9pPr marL="4457700" indent="-4572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1.1 什么是数据结构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0E9A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形式化定义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数据结构是相互之间存在一种或多种特定关系的数据元素的集合，它是计算机存储、组织数据的方式，也是程序设计的基础骨架。</a:t>
            </a:r>
            <a:endParaRPr lang="en-US" sz="18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核心单元：数据元素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数据的基本单位，在程序中通常作为一个整体被处理，也常被称作「结点」或「记录」，是构成数据结构的最小独立实体。</a:t>
            </a:r>
            <a:endParaRPr lang="en-US" sz="18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组织纽带：逻辑关系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数据元素之间的关联方式被称为「逻辑结构」，它决定了数据的组织形式（如线性、树形、图形），是数据结构的核心特征。</a:t>
            </a:r>
            <a:endParaRPr lang="en-US" sz="18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通俗化理解公式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数据结构 =</a:t>
            </a: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数据（处理对象）</a:t>
            </a:r>
            <a:r>
              <a:rPr lang="en-US" sz="18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结构（组织规则）</a:t>
            </a:r>
            <a:r>
              <a:rPr lang="en-US" sz="18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，本质是研究如何高效地组织与管理数据，让程序运算更高效。</a:t>
            </a:r>
            <a:endParaRPr lang="en-US" sz="18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数据结构的研究聚焦于三大核心领域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658B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数据的逻辑结构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描述数据元素之间的抽象关系，不依赖具体存储。核心包括集合关系、一对一的线性关系、一对多的树型关系，以及多对多的网状关系。</a:t>
            </a:r>
            <a:endParaRPr lang="en-US" sz="16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数据的物理结构（存储结构）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研究数据在计算机内存中的实际存储形式，决定访问效率。主要分为占用连续内存的“顺序存储”，以及通过指针链接离散内存的“链式存储”。</a:t>
            </a:r>
            <a:endParaRPr lang="en-US" sz="16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数据的运算与操作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定义在数据结构上的核心行为，是其价值的具体体现。基础操作包含插入、删除、查找与排序，此外还包括更新、遍历等扩展操作。</a:t>
            </a:r>
            <a:endParaRPr lang="en-US" sz="16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32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习题与思考（一）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数据结构主要研究的是（ ）。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数据的逻辑结构　　B. 数据的存储结构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 数据的运算　　　　D. 以上都是</a:t>
            </a:r>
            <a:endParaRPr lang="en-US" sz="16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在图书馆中，将图书按主题分类并按作者姓名排序，这属于对数据的（ ）进行组织。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逻辑结构　　B. 存储结构　　C. 物理结构　　D. 运算</a:t>
            </a:r>
            <a:endParaRPr lang="en-US" sz="16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数据结构被广泛应用于以下哪个领域？（ ）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操作系统　　B. 数据库系统　　C. 人工智能　　D. 以上都是</a:t>
            </a:r>
            <a:endParaRPr lang="en-US" sz="16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800100" indent="-457200"/>
            <a:lvl2pPr marL="1257300" indent="-457200"/>
            <a:lvl3pPr marL="1714500" indent="-457200"/>
            <a:lvl4pPr marL="2171700" indent="-457200"/>
            <a:lvl5pPr marL="2628900" indent="-457200"/>
            <a:lvl6pPr marL="3086100" indent="-457200"/>
            <a:lvl7pPr marL="3543300" indent="-457200"/>
            <a:lvl8pPr marL="4000500" indent="-457200"/>
            <a:lvl9pPr marL="4457700" indent="-4572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习题与思考（二）</a:t>
            </a:r>
            <a:endParaRPr lang="en-US" sz="1100"/>
          </a:p>
          <a:p>
            <a:pPr marL="342900" indent="-342900" algn="l">
              <a:lnSpc>
                <a:spcPct val="100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填空题 · 概念回顾</a:t>
            </a:r>
            <a:endParaRPr lang="en-US" sz="2400" b="1" i="0" u="none" strike="noStrike">
              <a:solidFill>
                <a:srgbClr val="0E9A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数据结构是相互之间存在一种或多种特定关系的 __________ 的集合。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（核心答案：数据元素，即构成数据的基本单元）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数据结构的研究内容包括数据的 __________ 结构、__________ 结构和定义在数据上的基本运算。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（核心答案：逻辑结构、存储结构（物理结构））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简答题 · 生活联想</a:t>
            </a:r>
            <a:endParaRPr lang="en-US" sz="2400" b="1" i="0" u="none" strike="noStrike">
              <a:solidFill>
                <a:srgbClr val="0E9A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请举例说明日常生活中运用了数据结构思想的场景，并简要分析其体现的结构类型（如线性表、树、图等）？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参考方向：手机通讯录的排序与查找、图书馆的图书分类索引、地图导航的路径规划、电商平台的商品分类层级等。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38200" y="457200"/>
            <a:ext cx="7556500" cy="528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698500" indent="-355600"/>
            <a:lvl2pPr marL="1155700" indent="-355600"/>
            <a:lvl3pPr marL="1612900" indent="-355600"/>
            <a:lvl4pPr marL="2070100" indent="-355600"/>
            <a:lvl5pPr marL="2527300" indent="-355600"/>
            <a:lvl6pPr marL="2984500" indent="-355600"/>
            <a:lvl7pPr marL="3441700" indent="-355600"/>
            <a:lvl8pPr marL="3898900" indent="-355600"/>
            <a:lvl9pPr marL="4356100" indent="-355600"/>
          </a:lstStyle>
          <a:p>
            <a:pPr marL="342900" indent="-342900" algn="l">
              <a:lnSpc>
                <a:spcPct val="100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1.1  </a:t>
            </a: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基本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概念和术语</a:t>
            </a:r>
            <a:endParaRPr lang="zh-CN" altLang="en-US" sz="28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endParaRPr lang="zh-CN" altLang="en-US" sz="28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endParaRPr lang="zh-CN" altLang="en-US" sz="28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28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 (Data)</a:t>
            </a:r>
            <a:r>
              <a:rPr lang="en-US" sz="20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：描述客观事物的符号记录，是计算机可以识别、存储和处理的信息载体，包括数值、文本、图像等形式。</a:t>
            </a:r>
            <a:endParaRPr lang="en-US" sz="20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数据元素 (Data Element)</a:t>
            </a:r>
            <a:r>
              <a:rPr lang="en-US" sz="20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：数据的基本单位，在程序中作为一个整体被独立处理，也常被称为“记录”，是数据结构中操作的基本对象。</a:t>
            </a:r>
            <a:endParaRPr lang="en-US" sz="20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数据项 (Data Item)</a:t>
            </a:r>
            <a:r>
              <a:rPr lang="en-US" sz="20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：数据元素不可分割的最小单位，用于描述数据元素的具体属性，如“学生”元素中的“姓名”“学号”等字段。</a:t>
            </a:r>
            <a:endParaRPr lang="en-US" sz="20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数据对象 (Data Object)</a:t>
            </a:r>
            <a:r>
              <a:rPr lang="en-US" sz="20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：性质相同的数据元素的集合，是数据的一个子集，具有相同的性质和行为特征，如全体学生信息的集合。</a:t>
            </a:r>
            <a:endParaRPr lang="en-US" sz="20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698500" indent="-355600"/>
            <a:lvl2pPr marL="1155700" indent="-355600"/>
            <a:lvl3pPr marL="1612900" indent="-355600"/>
            <a:lvl4pPr marL="2070100" indent="-355600"/>
            <a:lvl5pPr marL="2527300" indent="-355600"/>
            <a:lvl6pPr marL="2984500" indent="-355600"/>
            <a:lvl7pPr marL="3441700" indent="-355600"/>
            <a:lvl8pPr marL="3898900" indent="-355600"/>
            <a:lvl9pPr marL="4356100" indent="-3556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2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逻辑结构（一）：集合与线性基础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600" b="1" i="0" u="none" strike="noStrike">
              <a:solidFill>
                <a:srgbClr val="658B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600" b="1" i="0" u="none" strike="noStrike">
              <a:solidFill>
                <a:srgbClr val="658B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6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集合结构：无关联的归属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特点：数据元素仅“同属一个集合”，无任何顺序或层级关系。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示例：一个班级的全体学生，彼此间无固定的先后或主次关联。</a:t>
            </a:r>
            <a:endParaRPr lang="en-US" sz="20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6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线性结构：有序的一对一链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特点：元素间存在严格的“一对一”先后关系，形成线性有序序列。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示例：排队等候的人群、数组的索引排列、单向链表的节点连接。</a:t>
            </a:r>
            <a:endParaRPr lang="en-US" sz="20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698500" indent="-355600"/>
            <a:lvl2pPr marL="1155700" indent="-355600"/>
            <a:lvl3pPr marL="1612900" indent="-355600"/>
            <a:lvl4pPr marL="2070100" indent="-355600"/>
            <a:lvl5pPr marL="2527300" indent="-355600"/>
            <a:lvl6pPr marL="2984500" indent="-355600"/>
            <a:lvl7pPr marL="3441700" indent="-355600"/>
            <a:lvl8pPr marL="3898900" indent="-355600"/>
            <a:lvl9pPr marL="4356100" indent="-3556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逻辑结构（二）：非线性关系的延伸</a:t>
            </a:r>
            <a:endParaRPr lang="en-US" sz="1100"/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2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2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0" i="0" u="none" strike="noStrike">
                <a:solidFill>
                  <a:srgbClr val="5055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突破一对一的线性限制，数据元素间呈现更复杂的层级与网络关联：</a:t>
            </a:r>
            <a:endParaRPr lang="en-US" sz="22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树形结构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特点：数据元素间是一对多的层次关系，有明确的根与分支。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示例：公司组织架构、家族族谱、电脑文件目录系统。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图形结构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特点：数据元素间呈现多对多的任意关系，无固定层级。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示例：社交好友关系网、城市交通路线图、网络拓扑结构。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0" y="146050"/>
            <a:ext cx="9337675" cy="1098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常见的四种逻辑结构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</a:p>
          <a:p>
            <a:pPr marL="0"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0BE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集合结构</a:t>
            </a:r>
            <a:endParaRPr lang="en-US" sz="2000" b="1" i="0" u="none" strike="noStrike">
              <a:solidFill>
                <a:srgbClr val="00BE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5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数据元素间仅存在“同属一个集合”的松散关系，无任何其他逻辑关联，如同散落的孤立点。元素地位平等，无先后、层级或顺序之分，是最基础的结构形式。</a:t>
            </a: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线性结构</a:t>
            </a:r>
            <a:endParaRPr lang="en-US" sz="2000" b="1" i="0" u="none" strike="noStrike">
              <a:solidFill>
                <a:srgbClr val="0E9A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5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数据元素按“一对一”的逻辑顺序紧密排列，形如一条直线。元素间存在明确的先后次序，除首尾节点外，每个节点仅有一个前驱和一个后继，支持顺序访问与遍历。</a:t>
            </a: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树形结构</a:t>
            </a:r>
            <a:endParaRPr lang="en-US" sz="2000" b="1" i="0" u="none" strike="noStrike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5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以“一对多”的层级关系组织，形似倒置的树。存在唯一的根节点，向下衍生出各级子节点，形成分支与层级体系，是实现数据层次化分类与管理的核心结构。</a:t>
            </a: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图形结构</a:t>
            </a:r>
            <a:endParaRPr lang="en-US" sz="2000" b="1" i="0" u="none" strike="noStrike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5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以“多对多”的复杂关联构成网状系统，由顶点（节点）和边（连接）组成。元素间关联无固定限制，可形成闭环、交叉网络，能表达现实中任意复杂的关系模型。</a:t>
            </a:r>
            <a:endParaRPr lang="en-US" sz="15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673100" indent="-330200"/>
            <a:lvl2pPr marL="1130300" indent="-330200"/>
            <a:lvl3pPr marL="1587500" indent="-330200"/>
            <a:lvl4pPr marL="2044700" indent="-330200"/>
            <a:lvl5pPr marL="2501900" indent="-330200"/>
            <a:lvl6pPr marL="2959100" indent="-330200"/>
            <a:lvl7pPr marL="3416300" indent="-330200"/>
            <a:lvl8pPr marL="3873500" indent="-330200"/>
            <a:lvl9pPr marL="4330700" indent="-330200"/>
          </a:lstStyle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2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物理结构（存储结构）：数据在计算机内存中的实际存储形式，直接决定数据的操作效率。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4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顺序存储结构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定义：数据存放在</a:t>
            </a:r>
            <a:r>
              <a:rPr lang="en-US" sz="2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地址连续</a:t>
            </a:r>
            <a:r>
              <a:rPr lang="en-US" sz="2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的存储单元，逻辑关系与物理位置完全一致。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200" b="0" i="0" u="none" strike="noStrike">
                <a:solidFill>
                  <a:srgbClr val="505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示例：数组（Array），支持通过下标直接随机访问，存取速度极快。</a:t>
            </a:r>
            <a:endParaRPr lang="en-US" sz="2200" b="0" i="0" u="none" strike="noStrike">
              <a:solidFill>
                <a:srgbClr val="505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4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658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链式存储结构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定义：数据分散存储在任意单元，通过</a:t>
            </a:r>
            <a:r>
              <a:rPr lang="en-US" sz="2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指针/引用</a:t>
            </a:r>
            <a:r>
              <a:rPr lang="en-US" sz="2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建立元素间的逻辑联系。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200" b="0" i="0" u="none" strike="noStrike">
                <a:solidFill>
                  <a:srgbClr val="505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示例：链表（Linked List），无需连续内存，插入与删除操作更灵活高效。</a:t>
            </a:r>
            <a:endParaRPr lang="en-US" sz="2200" b="0" i="0" u="none" strike="noStrike">
              <a:solidFill>
                <a:srgbClr val="505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800100" indent="-457200"/>
            <a:lvl2pPr marL="1257300" indent="-457200"/>
            <a:lvl3pPr marL="1714500" indent="-457200"/>
            <a:lvl4pPr marL="2171700" indent="-457200"/>
            <a:lvl5pPr marL="2628900" indent="-457200"/>
            <a:lvl6pPr marL="3086100" indent="-457200"/>
            <a:lvl7pPr marL="3543300" indent="-457200"/>
            <a:lvl8pPr marL="4000500" indent="-457200"/>
            <a:lvl9pPr marL="4457700" indent="-4572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物理结构的优缺点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4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4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顺序存储结构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【优点】支持随机访问，可直接通过下标快速定位元素；存储密度大，无需额外空间存储指针，内存利用率高。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【缺点】插入与删除操作需移动大量元素，时间效率低；存储空间需预先连续分配，易造成空间浪费或溢出。</a:t>
            </a:r>
            <a:endParaRPr lang="en-US" sz="20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链式存储结构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【优点】插入和删除操作灵活高效，仅需修改指针指向，无需移动元素；存储空间动态分配，按需申请释放，无空间浪费。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【缺点】无法实现随机访问，查找元素需从头节点开始遍历；每个节点需额外存储指针域，增加了额外的内存空间开销。</a:t>
            </a:r>
            <a:endParaRPr lang="en-US" sz="20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习题与思考（一）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endParaRPr lang="en-US" sz="18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endParaRPr lang="en-US" sz="18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数据元素是数据的（ ）。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055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最小单位　　B. 基本单位　　C. 集合　　D. 以上都不对</a:t>
            </a:r>
            <a:endParaRPr lang="en-US" sz="16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数据结构中，与所使用的计算机无关的是数据的（ ）。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055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物理结构　　B. 存储结构　　C. 逻辑结构　　D. 物理和存储结构</a:t>
            </a:r>
            <a:endParaRPr lang="en-US" sz="16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队列的逻辑结构是（ ）。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055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集合　　B. 线性结构　　C. 树形结构　　D. 图形结构</a:t>
            </a:r>
            <a:endParaRPr lang="en-US" sz="16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04. 数组采用的存储结构是（ ）。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055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顺序存储　　B. 链式存储　　C. 索引存储　　D. 散列存储</a:t>
            </a:r>
            <a:endParaRPr lang="en-US" sz="1600" b="0" i="0" u="none" strike="noStrike">
              <a:solidFill>
                <a:srgbClr val="5055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习题与思考（二）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一、填空题</a:t>
            </a: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数据元素由 __________ 组成，是数据的基本单位。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数据的逻辑结构分为集合结构、线性结构、树形结构和图形结构四种。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 数据的物理结构（存储结构）主要有顺序存储结构和链式存储结构两种。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二、简答题</a:t>
            </a: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简述线性结构、树形结构和图形结构的核心区别，并各举一个实际应用案例。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对比分析顺序存储结构与链式存储结构的优缺点，说明各自的适用场景。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3200" b="1" i="0" u="none" strike="noStrike">
                <a:solidFill>
                  <a:srgbClr val="0E9AC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1.3</a:t>
            </a:r>
            <a:r>
              <a:rPr lang="en-US" sz="3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抽象数据类型的表示与实现</a:t>
            </a:r>
            <a:endParaRPr lang="en-US" sz="1100"/>
          </a:p>
          <a:p>
            <a:pPr marL="342900" indent="-342900" algn="l">
              <a:lnSpc>
                <a:spcPct val="117000"/>
              </a:lnSpc>
              <a:spcBef>
                <a:spcPct val="50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2000" b="1" i="0" u="none" strike="noStrike">
              <a:solidFill>
                <a:srgbClr val="0E9AC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117000"/>
              </a:lnSpc>
              <a:spcBef>
                <a:spcPct val="5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E9AC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 / 核心定义</a:t>
            </a:r>
            <a:r>
              <a:rPr lang="en-US" sz="1800" b="0" i="0" u="none" strike="noStrike">
                <a:solidFill>
                  <a:srgbClr val="5055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抽象数据类型（ADT）是指一个数学模型以及定义在该模型上的一组操作。它将数据的逻辑结构与具体的物理实现相分离，只关注数据的行为特性，而非底层存储细节。</a:t>
            </a:r>
            <a:endParaRPr lang="en-US" sz="1800" b="0" i="0" u="none" strike="noStrike">
              <a:solidFill>
                <a:srgbClr val="5055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17000"/>
              </a:lnSpc>
              <a:spcBef>
                <a:spcPct val="5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E9AC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 / 关键三要素</a:t>
            </a:r>
            <a:r>
              <a:rPr lang="en-US" sz="1800" b="0" i="0" u="none" strike="noStrike">
                <a:solidFill>
                  <a:srgbClr val="5055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由“数据对象”（数据元素的集合）、“数据关系”（元素间的逻辑关系）和“基本操作”（对数据的运算规则）三部分组成，构成了ADT的完整描述体系。</a:t>
            </a:r>
            <a:endParaRPr lang="en-US" sz="1800" b="0" i="0" u="none" strike="noStrike">
              <a:solidFill>
                <a:srgbClr val="5055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17000"/>
              </a:lnSpc>
              <a:spcBef>
                <a:spcPct val="5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E9AC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 / 设计价值</a:t>
            </a:r>
            <a:r>
              <a:rPr lang="en-US" sz="1800" b="0" i="0" u="none" strike="noStrike">
                <a:solidFill>
                  <a:srgbClr val="5055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通过封装与抽象，降低程序模块间的耦合度，提高代码的复用性、可维护性与可扩展性，是构建复杂软件系统的基础思想。</a:t>
            </a:r>
            <a:endParaRPr lang="en-US" sz="1800" b="0" i="0" u="none" strike="noStrike">
              <a:solidFill>
                <a:srgbClr val="5055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1270000"/>
            <a:ext cx="8077200" cy="411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spcBef>
                <a:spcPct val="20000"/>
              </a:spcBef>
              <a:defRPr/>
            </a:pPr>
            <a:r>
              <a:rPr lang="en-US" sz="22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核心定义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ct val="10000"/>
              </a:spcBef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抽象数据类型（ADT）是指一个</a:t>
            </a: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数学模型</a:t>
            </a: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以及定义在该模型上的一组</a:t>
            </a: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操作集合</a:t>
            </a: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。它专注于描述数据的逻辑特性和行为能力，而非具体的存储结构或实现细节。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ct val="40000"/>
              </a:spcBef>
            </a:pPr>
            <a:r>
              <a:rPr lang="en-US" sz="22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核心思想：抽象与封装</a:t>
            </a:r>
            <a:endParaRPr lang="en-US" sz="2200" b="1" i="0" u="none" strike="noStrike">
              <a:solidFill>
                <a:srgbClr val="054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08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抽象 (Abstraction)：</a:t>
            </a: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只关注“做什么”，而非“怎么做”。屏蔽底层实现细节，聚焦于数据的逻辑特性和对外提供的功能，降低问题复杂度。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08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封装 (Encapsulation)：</a:t>
            </a: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将数据和操作捆绑为整体，对外隐藏内部细节，仅通过统一接口交互。这不仅保护了数据的安全性，更提升了代码的复用性与可维护性。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9017"/>
            <a:ext cx="8102600" cy="5461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什么是抽象数据类型 (ADT)？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698500" indent="-355600"/>
            <a:lvl2pPr marL="1155700" indent="-355600"/>
            <a:lvl3pPr marL="1612900" indent="-355600"/>
            <a:lvl4pPr marL="2070100" indent="-355600"/>
            <a:lvl5pPr marL="2527300" indent="-355600"/>
            <a:lvl6pPr marL="2984500" indent="-355600"/>
            <a:lvl7pPr marL="3441700" indent="-355600"/>
            <a:lvl8pPr marL="3898900" indent="-355600"/>
            <a:lvl9pPr marL="4356100" indent="-3556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抽象数据类型(ADT)的三元组定义：</a:t>
            </a:r>
            <a:endParaRPr lang="en-US" sz="1100"/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ADT = ( D , R , P )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D：数据对象，即数据元素的有限集合；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R：数据关系，元素间逻辑关系的集合；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P：基本操作，对数据对象的操作规则集。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FFFFFF"/>
              </a:buClr>
              <a:buSzPct val="80000"/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标准表示格式框架：</a:t>
            </a:r>
            <a:endParaRPr lang="en-US" sz="28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FFFFFF"/>
              </a:buClr>
              <a:buSzPct val="80000"/>
              <a:buFont typeface="Wingdings" panose="05000000000000000000"/>
              <a:buChar char="l"/>
            </a:pPr>
            <a:r>
              <a:rPr lang="en-US" sz="2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ADT Name {</a:t>
            </a:r>
            <a:b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D: { 数据元素的定义 }</a:t>
            </a:r>
            <a:b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R: { 元素间关系的描述 }</a:t>
            </a:r>
            <a:b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P: { 操作名(参数) { 功能描述 } }</a:t>
            </a:r>
            <a:b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 ADT Name</a:t>
            </a:r>
            <a:endParaRPr lang="en-US" sz="26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698500" indent="-355600"/>
            <a:lvl2pPr marL="1155700" indent="-355600"/>
            <a:lvl3pPr marL="1612900" indent="-355600"/>
            <a:lvl4pPr marL="2070100" indent="-355600"/>
            <a:lvl5pPr marL="2527300" indent="-355600"/>
            <a:lvl6pPr marL="2984500" indent="-355600"/>
            <a:lvl7pPr marL="3441700" indent="-355600"/>
            <a:lvl8pPr marL="3898900" indent="-355600"/>
            <a:lvl9pPr marL="4356100" indent="-3556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抽象数据类型（ADT）实例：复数</a:t>
            </a:r>
            <a:endParaRPr lang="en-US" sz="1100"/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数据对象定义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 = { r, i | r, i ∈ 实数集 }，r代表复数实部，i代表复数虚部</a:t>
            </a:r>
            <a:endParaRPr lang="en-US" sz="20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数据逻辑关系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 = { &lt;r, i&gt; | r与i是不可分割的成对关系，共同构成复数整体 }</a:t>
            </a:r>
            <a:endParaRPr lang="en-US" sz="20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FFFFFF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核心基本操作集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构造：InitComplex(&amp;C, r, i) // 创建复数实体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访问：GetReal(C, &amp;r)、GetImag(C, &amp;i) // 获取实虚部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运算：AddComplex(C1,C2,&amp;C)、SubComplex(C1,C2,&amp;C) // 加减运算</a:t>
            </a:r>
            <a:endParaRPr lang="en-US" sz="20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FFFFFF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定义本质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ADT仅描述复数“做什么”，而非“怎么做”，实现了逻辑结构与物理实现的分离，是数据结构设计的核心思想。</a:t>
            </a:r>
            <a:endParaRPr lang="en-US" sz="20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42900" indent="-342900" algn="l">
              <a:lnSpc>
                <a:spcPct val="92000"/>
              </a:lnSpc>
              <a:defRPr/>
            </a:pPr>
            <a:r>
              <a:rPr lang="en-US" sz="2000" b="0" i="0" u="none" strike="noStrik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 定义复数的存储结构</a:t>
            </a:r>
            <a:endParaRPr lang="en-US" sz="1100"/>
          </a:p>
          <a:p>
            <a:pPr marL="342900" indent="-342900" algn="l">
              <a:lnSpc>
                <a:spcPct val="92000"/>
              </a:lnSpc>
            </a:pPr>
            <a:r>
              <a:rPr lang="en-US" sz="22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typedef struct</a:t>
            </a: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{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23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float real; // 实部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23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float imag; // 虚部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 Complex;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92000"/>
              </a:lnSpc>
            </a:pPr>
            <a:r>
              <a:rPr lang="en-US" sz="2000" b="0" i="0" u="none" strike="noStrik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 初始化复数函数</a:t>
            </a:r>
            <a:endParaRPr lang="en-US" sz="2000" b="0" i="0" u="none" strike="noStrike">
              <a:solidFill>
                <a:srgbClr val="59595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void InitComplex(Complex *C, float r, float i) {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23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C-&gt;real = r;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23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C-&gt;imag = i;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92000"/>
              </a:lnSpc>
            </a:pPr>
            <a:r>
              <a:rPr lang="en-US" sz="2000" b="0" i="0" u="none" strike="noStrik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 复数加法运算</a:t>
            </a:r>
            <a:endParaRPr lang="en-US" sz="2000" b="0" i="0" u="none" strike="noStrike">
              <a:solidFill>
                <a:srgbClr val="59595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void AddComplex(Complex C1, Complex C2, Complex *C) {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23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C-&gt;real = C1.real + C2.real;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23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C-&gt;imag = C1.imag + C2.imag;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92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2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800100" indent="-457200"/>
            <a:lvl2pPr marL="1257300" indent="-457200"/>
            <a:lvl3pPr marL="1714500" indent="-457200"/>
            <a:lvl4pPr marL="2171700" indent="-457200"/>
            <a:lvl5pPr marL="2628900" indent="-457200"/>
            <a:lvl6pPr marL="3086100" indent="-457200"/>
            <a:lvl7pPr marL="3543300" indent="-457200"/>
            <a:lvl8pPr marL="4000500" indent="-457200"/>
            <a:lvl9pPr marL="4457700" indent="-457200"/>
          </a:lstStyle>
          <a:p>
            <a:pPr marL="342900" indent="-342900" algn="l">
              <a:lnSpc>
                <a:spcPct val="100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习题与思考（一）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抽象数据类型（ADT）的特点不包括（ ）。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抽象性，仅关注功能与外部行为    B. 封装性，隐藏内部具体实现细节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 依赖具体的编程语言实现细节    D. 与底层的具体存储结构无关</a:t>
            </a:r>
            <a:endParaRPr lang="en-US" sz="18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下列关于ADT定义与设计的描述，正确的是（ ）。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ADT只包含数据对象，不包含数据关系与操作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B. ADT强调“做什么”（功能）而非“怎么做”（实现）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 ADT的设计必须提前确定具体的数组或链表实现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D. ADT无法在不同的程序模块中进行复用</a:t>
            </a:r>
            <a:endParaRPr lang="en-US" sz="18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EB7E3E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C050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核心考点：</a:t>
            </a:r>
            <a:r>
              <a:rPr lang="en-US" sz="18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区分“逻辑结构”与“物理实现”，理解ADT的封装与抽象本质，它是数据结构设计的基础思想，也是实现程序模块化与可复用性的关键。</a:t>
            </a:r>
            <a:endParaRPr lang="en-US" sz="18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800100" indent="-457200"/>
            <a:lvl2pPr marL="1257300" indent="-457200"/>
            <a:lvl3pPr marL="1714500" indent="-457200"/>
            <a:lvl4pPr marL="2171700" indent="-457200"/>
            <a:lvl5pPr marL="2628900" indent="-457200"/>
            <a:lvl6pPr marL="3086100" indent="-457200"/>
            <a:lvl7pPr marL="3543300" indent="-457200"/>
            <a:lvl8pPr marL="4000500" indent="-457200"/>
            <a:lvl9pPr marL="4457700" indent="-457200"/>
          </a:lstStyle>
          <a:p>
            <a:pPr marL="342900" indent="-342900" algn="l">
              <a:lnSpc>
                <a:spcPct val="100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习题与思考（二）</a:t>
            </a:r>
            <a:endParaRPr lang="en-US" sz="1100"/>
          </a:p>
          <a:p>
            <a:pPr marL="342900" indent="-342900" algn="l">
              <a:lnSpc>
                <a:spcPct val="100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填空题：ADT 基础认知</a:t>
            </a:r>
            <a:endParaRPr lang="en-US" sz="24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抽象数据类型（ADT）由</a:t>
            </a: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数据对象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数据关系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和</a:t>
            </a: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基本操作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三部分组成，它是对数据逻辑结构和操作的统一抽象描述。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ADT 的核心设计思想是</a:t>
            </a: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数据抽象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（仅关注功能与外部接口）与</a:t>
            </a: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信息隐藏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（封装内部实现细节），实现了“使用与实现分离”。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简答题：栈（Stack）的 ADT 定义</a:t>
            </a:r>
            <a:endParaRPr lang="en-US" sz="24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请基于抽象数据类型的定义规范，为“栈”设计完整的 ADT 描述。需明确栈的逻辑结构，并定义以下五个核心操作的功能接口：初始化空栈、元素入栈、栈顶元素出栈、获取栈顶元素值、判断栈是否为空。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1.4</a:t>
            </a:r>
            <a:r>
              <a:rPr lang="en-US" sz="3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算法和算法分析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50000"/>
              </a:spcBef>
              <a:buClr>
                <a:srgbClr val="0E9AC7"/>
              </a:buClr>
              <a:buSzPct val="60000"/>
              <a:buFont typeface="Wingdings" panose="05000000000000000000"/>
              <a:buChar char="l"/>
            </a:pPr>
            <a:r>
              <a:rPr lang="en-US" sz="2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算法分析是评判程序“好坏”的核心，我们将深入探讨时间复杂度与空间复杂度的评估方法，学会用科学的指标衡量算法的效率与质量，为编写高性能代码奠定基础。</a:t>
            </a:r>
            <a:endParaRPr lang="en-US" sz="2200" b="0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3048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92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28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算法的定义与特性</a:t>
            </a:r>
            <a:endParaRPr lang="en-US" sz="1100"/>
          </a:p>
          <a:p>
            <a:pPr marL="279400" indent="-279400" algn="l">
              <a:lnSpc>
                <a:spcPct val="100000"/>
              </a:lnSpc>
              <a:spcBef>
                <a:spcPct val="20000"/>
              </a:spcBef>
              <a:buClr>
                <a:srgbClr val="1F2329"/>
              </a:buClr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79400" indent="-279400" algn="l">
              <a:lnSpc>
                <a:spcPct val="100000"/>
              </a:lnSpc>
              <a:spcBef>
                <a:spcPct val="20000"/>
              </a:spcBef>
              <a:buClr>
                <a:srgbClr val="1F2329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什么是算法？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算法（Algorithm）是对特定问题求解步骤的一种清晰描述，是指令的有限序列，每一条指令对应一个或多个明确的操作，旨在解决一类问题。</a:t>
            </a:r>
            <a:endParaRPr lang="en-US" sz="18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-2540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有穷性 (Finiteness) —— 过程的终结性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7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算法必须在执行有限个步骤之后结束，且每一步骤的执行时间也必须是有限的，不能出现无限循环的情况。</a:t>
            </a:r>
            <a:endParaRPr lang="en-US" sz="17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-2540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确定性 (Definiteness) —— 步骤的明确性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7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算法的每一步骤都必须有确切的定义，不存在二义性；在相同的输入条件下，总能得到相同的执行路径和结果。</a:t>
            </a:r>
            <a:endParaRPr lang="en-US" sz="17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-2540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可行性 (Effectiveness) —— 操作的可实现性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7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算法中的每一步操作都必须是可行的，能够通过已经实现的基本运算执行有限次来完成，确保能得到确定的结果。</a:t>
            </a:r>
            <a:endParaRPr lang="en-US" sz="17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-2540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 输入与输出 (Input &amp; Output) —— 交互与结果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7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算法可以有零个或多个输入（取自特定的合法数据集）；但必须有一个或多个输出，输出是算法对输入处理后产生的结果，是算法的价值所在。</a:t>
            </a:r>
            <a:endParaRPr lang="en-US" sz="17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90500" rIns="127000" bIns="190500" rtlCol="0" anchor="t" anchorCtr="0"/>
          <a:lstStyle>
            <a:lvl1pPr marL="469900" indent="-279400"/>
            <a:lvl2pPr marL="927100" indent="-279400"/>
            <a:lvl3pPr marL="1384300" indent="-279400"/>
            <a:lvl4pPr marL="1841500" indent="-279400"/>
            <a:lvl5pPr marL="2298700" indent="-279400"/>
            <a:lvl6pPr marL="2755900" indent="-279400"/>
            <a:lvl7pPr marL="3213100" indent="-279400"/>
            <a:lvl8pPr marL="3670300" indent="-279400"/>
            <a:lvl9pPr marL="4127500" indent="-279400"/>
          </a:lstStyle>
          <a:p>
            <a:pPr marL="190500" indent="-190500" algn="l">
              <a:lnSpc>
                <a:spcPct val="108000"/>
              </a:lnSpc>
              <a:spcBef>
                <a:spcPct val="30000"/>
              </a:spcBef>
              <a:buClr>
                <a:srgbClr val="658BD5"/>
              </a:buClr>
              <a:buFont typeface="Wingdings" panose="05000000000000000000"/>
              <a:buChar char="l"/>
              <a:defRPr/>
            </a:pPr>
            <a:r>
              <a:rPr lang="en-US" sz="2200" b="1" i="0" u="none" strike="noStrike">
                <a:solidFill>
                  <a:srgbClr val="658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正确性 (Correctness)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算法设计的首要标准，指算法能严格按照问题的需求规格执行，对于任何合法的输入都能在有限时间内输出正确的结果，这是算法存在的基础意义。</a:t>
            </a:r>
            <a:endParaRPr lang="en-US" sz="1100"/>
          </a:p>
          <a:p>
            <a:pPr marL="190500" indent="-190500" algn="l">
              <a:lnSpc>
                <a:spcPct val="108000"/>
              </a:lnSpc>
              <a:spcBef>
                <a:spcPct val="30000"/>
              </a:spcBef>
              <a:buClr>
                <a:srgbClr val="658BD5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可读性 (Readability)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算法应具备清晰的逻辑结构与规范的编码风格，便于人类理解、阅读和交流。良好的可读性是算法调试、维护、扩展以及团队协作的重要保障。</a:t>
            </a:r>
            <a:endParaRPr lang="en-US" sz="16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08000"/>
              </a:lnSpc>
              <a:spcBef>
                <a:spcPct val="30000"/>
              </a:spcBef>
              <a:buClr>
                <a:srgbClr val="658BD5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健壮性 (Robustness)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算法需具备容错能力，面对非法输入、边界值或异常运行环境时，不会直接崩溃，而是能做出合理的处理（如给出错误提示、自动修正输入等），保证程序的稳定性。</a:t>
            </a:r>
            <a:endParaRPr lang="en-US" sz="16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08000"/>
              </a:lnSpc>
              <a:spcBef>
                <a:spcPct val="30000"/>
              </a:spcBef>
              <a:buClr>
                <a:srgbClr val="658BD5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高效率 (Efficiency)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包含时间效率与空间效率两个维度：时间上要求算法执行速度快（时间复杂度低），空间上要求占用的内存资源少（空间复杂度低），是衡量算法性能优劣的核心指标。</a:t>
            </a:r>
            <a:endParaRPr lang="en-US" sz="16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800100" indent="-457200"/>
            <a:lvl2pPr marL="1257300" indent="-457200"/>
            <a:lvl3pPr marL="1714500" indent="-457200"/>
            <a:lvl4pPr marL="2171700" indent="-457200"/>
            <a:lvl5pPr marL="2628900" indent="-457200"/>
            <a:lvl6pPr marL="3086100" indent="-457200"/>
            <a:lvl7pPr marL="3543300" indent="-457200"/>
            <a:lvl8pPr marL="4000500" indent="-457200"/>
            <a:lvl9pPr marL="4457700" indent="-4572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3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2.1</a:t>
            </a:r>
            <a:r>
              <a:rPr lang="en-US" sz="3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时间复杂度</a:t>
            </a:r>
            <a:endParaRPr lang="en-US" sz="1100"/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时间复杂度是衡量算法效率的核心指标，它描述算法执行时间随问题规模 n 变化的趋势，我们通常重点关注执行时间的数量级，而非具体的执行秒数。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大O表示法 (Big O Notation)</a:t>
            </a: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：用于简化描述复杂度的数学符号，规则是忽略常数项、低次项与系数，仅保留对增长趋势起决定作用的最高次项。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典型复杂度示例：</a:t>
            </a:r>
            <a:endParaRPr lang="en-US" sz="24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线性阶 O(n)：若 T(n) = 3n + 2，忽略常数与系数，复杂度为 O(n)，代表执行时间随规模线性增长；② 平方阶 O(n²)：若 T(n) = n² + 5n + 10，仅保留最高次项，复杂度为 O(n²)，增长速度更快；③ 常数阶 O(1)：若 T(n) = 5，执行时间与规模无关，是效率最优的常数级复杂度。</a:t>
            </a:r>
            <a:endParaRPr lang="en-US" sz="2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30200" indent="-330200" algn="l">
              <a:lnSpc>
                <a:spcPct val="92000"/>
              </a:lnSpc>
              <a:spcBef>
                <a:spcPct val="10000"/>
              </a:spcBef>
              <a:buClr>
                <a:srgbClr val="1F2329"/>
              </a:buClr>
              <a:buFont typeface="Wingdings" panose="05000000000000000000"/>
              <a:buChar char="l"/>
              <a:defRPr/>
            </a:pPr>
            <a:r>
              <a:rPr lang="en-US" sz="2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常见的时间复杂度等级与解析</a:t>
            </a:r>
            <a:endParaRPr lang="en-US" sz="1100"/>
          </a:p>
          <a:p>
            <a:pPr marL="279400" indent="-279400" algn="l">
              <a:lnSpc>
                <a:spcPct val="100000"/>
              </a:lnSpc>
              <a:spcBef>
                <a:spcPct val="15000"/>
              </a:spcBef>
              <a:buClr>
                <a:srgbClr val="658BD5"/>
              </a:buClr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658BD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79400" indent="-279400" algn="l">
              <a:lnSpc>
                <a:spcPct val="100000"/>
              </a:lnSpc>
              <a:spcBef>
                <a:spcPct val="15000"/>
              </a:spcBef>
              <a:buClr>
                <a:srgbClr val="658BD5"/>
              </a:buClr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658BD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79400" indent="-279400" algn="l">
              <a:lnSpc>
                <a:spcPct val="100000"/>
              </a:lnSpc>
              <a:spcBef>
                <a:spcPct val="15000"/>
              </a:spcBef>
              <a:buClr>
                <a:srgbClr val="658BD5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O(1) 常数阶：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执行时间恒定，与问题规模 n 完全无关，是算法效率的理想标杆。</a:t>
            </a:r>
            <a:endParaRPr lang="en-US" sz="18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79400" indent="-279400" algn="l">
              <a:lnSpc>
                <a:spcPct val="100000"/>
              </a:lnSpc>
              <a:spcBef>
                <a:spcPct val="15000"/>
              </a:spcBef>
              <a:buClr>
                <a:srgbClr val="658BD5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O(logn) 对数阶：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执行时间随规模对数增长，数据量翻倍仅增加一次操作，性能优异。</a:t>
            </a:r>
            <a:endParaRPr lang="en-US" sz="18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79400" indent="-279400" algn="l">
              <a:lnSpc>
                <a:spcPct val="100000"/>
              </a:lnSpc>
              <a:spcBef>
                <a:spcPct val="15000"/>
              </a:spcBef>
              <a:buClr>
                <a:srgbClr val="658BD5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O(n) 线性阶：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执行时间与规模 n 成正比，数组遍历、简单查找多属于此类复杂度。</a:t>
            </a:r>
            <a:endParaRPr lang="en-US" sz="18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79400" indent="-279400" algn="l">
              <a:lnSpc>
                <a:spcPct val="100000"/>
              </a:lnSpc>
              <a:spcBef>
                <a:spcPct val="15000"/>
              </a:spcBef>
              <a:buClr>
                <a:srgbClr val="658BD5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O(nlogn) 线性对数阶：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归并排序、快速排序等高效算法的复杂度，在大规模数据下仍可接受。</a:t>
            </a:r>
            <a:endParaRPr lang="en-US" sz="18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79400" indent="-279400" algn="l">
              <a:lnSpc>
                <a:spcPct val="100000"/>
              </a:lnSpc>
              <a:spcBef>
                <a:spcPct val="15000"/>
              </a:spcBef>
              <a:buClr>
                <a:srgbClr val="658BD5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658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O(n²) 平方阶：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双重嵌套循环的典型表现，数据量增大时耗时会显著上升，需谨慎使用。</a:t>
            </a:r>
            <a:endParaRPr lang="en-US" sz="18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79400" indent="-279400" algn="l">
              <a:lnSpc>
                <a:spcPct val="100000"/>
              </a:lnSpc>
              <a:spcBef>
                <a:spcPct val="15000"/>
              </a:spcBef>
              <a:buClr>
                <a:srgbClr val="D94646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D9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O(2ⁿ) 指数阶：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随规模增长耗时呈指数爆炸，仅适用于极小数据量，实际开发应尽量避免。</a:t>
            </a:r>
            <a:endParaRPr lang="en-US" sz="18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622300" indent="-279400"/>
            <a:lvl2pPr marL="1079500" indent="-279400"/>
            <a:lvl3pPr marL="1536700" indent="-279400"/>
            <a:lvl4pPr marL="1993900" indent="-279400"/>
            <a:lvl5pPr marL="2451100" indent="-279400"/>
            <a:lvl6pPr marL="2908300" indent="-279400"/>
            <a:lvl7pPr marL="3365500" indent="-279400"/>
            <a:lvl8pPr marL="3822700" indent="-279400"/>
            <a:lvl9pPr marL="4279900" indent="-2794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不同时间复杂度的增长速度存在本质差异，随着数据规模 n 的持续增大，算法效率的差距会呈现出量级式的拉开。</a:t>
            </a:r>
            <a:endParaRPr lang="en-US" sz="1100"/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 n 达到万级或更大规模时，O(n²) 的算法耗时可能是 O(n) 的百倍以上，指数级 O(2ⁿ) 甚至会因计算量爆炸而无法运行。</a:t>
            </a:r>
            <a:endParaRPr lang="en-US" sz="2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选择匹配场景的低时间复杂度算法，是保障程序性能、支撑大规模数据处理的核心关键。</a:t>
            </a:r>
            <a:endParaRPr lang="en-US" sz="2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33000"/>
              </a:lnSpc>
              <a:spcBef>
                <a:spcPct val="40000"/>
              </a:spcBef>
            </a:pPr>
            <a:r>
              <a:rPr lang="en-US" sz="2400" b="1" i="0" u="none" strike="noStrike">
                <a:solidFill>
                  <a:srgbClr val="0E9AC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性能排序：O(1) &lt; O(logn) &lt; O(n) &lt; O(nlogn) &lt; O(n²) &lt; O(2ⁿ)</a:t>
            </a:r>
            <a:endParaRPr lang="en-US" sz="2400" b="1" i="0" u="none" strike="noStrike">
              <a:solidFill>
                <a:srgbClr val="0E9AC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1270000"/>
            <a:ext cx="8077200" cy="411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254000" indent="-254000" algn="l">
              <a:lnSpc>
                <a:spcPct val="108000"/>
              </a:lnSpc>
              <a:spcBef>
                <a:spcPct val="20000"/>
              </a:spcBef>
              <a:buClr>
                <a:srgbClr val="05413B"/>
              </a:buClr>
              <a:buFont typeface="Wingdings" panose="05000000000000000000"/>
              <a:buChar char="l"/>
              <a:defRPr/>
            </a:pPr>
            <a:r>
              <a:rPr lang="en-US" sz="20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空间复杂度的定义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用于衡量算法在执行过程中，所需</a:t>
            </a:r>
            <a:r>
              <a:rPr lang="en-US" sz="1600" b="1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额外存储空间</a:t>
            </a:r>
            <a:r>
              <a:rPr lang="en-US" sz="16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随问题规模 n 变化的趋势，是评估算法资源消耗的重要指标之一。</a:t>
            </a:r>
            <a:endParaRPr lang="en-US" sz="1100"/>
          </a:p>
          <a:p>
            <a:pPr marL="254000" indent="-254000" algn="l">
              <a:lnSpc>
                <a:spcPct val="108000"/>
              </a:lnSpc>
              <a:spcBef>
                <a:spcPct val="30000"/>
              </a:spcBef>
              <a:buClr>
                <a:srgbClr val="05413B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核心关注：辅助空间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分析重点是算法运行时</a:t>
            </a:r>
            <a:r>
              <a:rPr lang="en-US" sz="1600" b="1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临时开辟</a:t>
            </a:r>
            <a:r>
              <a:rPr lang="en-US" sz="16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的存储空间（如局部变量、临时数据结构），而非算法输入数据本身占用的内存。</a:t>
            </a:r>
            <a:endParaRPr lang="en-US" sz="1600" b="0" i="0" u="none" strike="noStrike">
              <a:solidFill>
                <a:srgbClr val="3C41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-254000" algn="l">
              <a:lnSpc>
                <a:spcPct val="108000"/>
              </a:lnSpc>
              <a:spcBef>
                <a:spcPct val="30000"/>
              </a:spcBef>
              <a:buClr>
                <a:srgbClr val="05413B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常见复杂度示例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</a:t>
            </a:r>
            <a:r>
              <a:rPr lang="en-US" sz="1600" b="1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O(1) 常数空间：</a:t>
            </a:r>
            <a:r>
              <a:rPr lang="en-US" sz="16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仅使用固定数量的变量（如简单的数值计算、两数交换），空间消耗不随 n 变化。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</a:t>
            </a:r>
            <a:r>
              <a:rPr lang="en-US" sz="1600" b="1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O(n) 线性空间：</a:t>
            </a:r>
            <a:r>
              <a:rPr lang="en-US" sz="16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需开辟与问题规模 n 成正比的临时空间（如创建长度为 n 的辅助数组、动态分配的列表）。</a:t>
            </a:r>
            <a:endParaRPr lang="en-US" sz="1600" b="0" i="0" u="none" strike="noStrike">
              <a:solidFill>
                <a:srgbClr val="3C41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9017"/>
            <a:ext cx="8102600" cy="5461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算法分析：空间复杂度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solidFill>
            <a:srgbClr val="4CAF5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6096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127000" rtlCol="0" anchor="t" anchorCtr="0"/>
          <a:lstStyle/>
          <a:p>
            <a:pPr marL="0" indent="0" algn="ctr">
              <a:lnSpc>
                <a:spcPct val="108000"/>
              </a:lnSpc>
              <a:spcBef>
                <a:spcPct val="10000"/>
              </a:spcBef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算法分析示例：时间复杂度对比</a:t>
            </a:r>
            <a:endParaRPr lang="en-US" sz="1100"/>
          </a:p>
          <a:p>
            <a:pPr marL="0" indent="0" algn="ctr">
              <a:lnSpc>
                <a:spcPct val="83000"/>
              </a:lnSpc>
            </a:pPr>
            <a:r>
              <a:rPr lang="en-US" sz="16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—— ——</a:t>
            </a:r>
            <a:endParaRPr lang="en-US" sz="1600" b="0" i="0" u="none" strike="noStrike">
              <a:solidFill>
                <a:srgbClr val="9E9E9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ct val="50000"/>
              </a:spcBef>
            </a:pPr>
            <a:r>
              <a:rPr lang="en-US" sz="1800" b="1" i="0" u="none" strike="noStrike">
                <a:solidFill>
                  <a:srgbClr val="1976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顺序查找 (Sequential Search)</a:t>
            </a:r>
            <a:endParaRPr lang="en-US" sz="1800" b="1" i="0" u="none" strike="noStrike">
              <a:solidFill>
                <a:srgbClr val="1976D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 sequentialSearch(int arr[], int n, int target) {
 for (int i = 0; i &lt; n; i++) { // 遍历数组，最多执行 n 次
 if (arr[i] == target) return i;
 }
 return -1;</a:t>
            </a:r>
            <a:endParaRPr lang="en-US" sz="1300" b="0" i="0" u="none" strike="noStrike">
              <a:solidFill>
                <a:srgbClr val="42424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300" b="0" i="0" u="none" strike="noStrike">
              <a:solidFill>
                <a:srgbClr val="42424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E651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⏱ 时间复杂度：O(n) （线性阶）</a:t>
            </a: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最坏情况下需遍历整个数组，执行次数随数据量线性增长。</a:t>
            </a:r>
            <a:endParaRPr lang="en-US" sz="13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ct val="60000"/>
              </a:spcBef>
            </a:pPr>
            <a:r>
              <a:rPr lang="en-US" sz="1800" b="1" i="0" u="none" strike="noStrike">
                <a:solidFill>
                  <a:srgbClr val="1976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冒泡排序 (Bubble Sort)</a:t>
            </a:r>
            <a:endParaRPr lang="en-US" sz="1800" b="1" i="0" u="none" strike="noStrike">
              <a:solidFill>
                <a:srgbClr val="1976D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void bubbleSort(int arr[], int n) {
 for (int i = 0; i &lt; n-1; i++) { // 外层循环 n-1 次
 for (int j = 0; j &lt; n-i-1; j++) { // 内层循环约 n²/2 次
 if (arr[j] &gt; arr[j+1]) 
 swap(&amp;arr[j], &amp;arr[j+1]);
 }
 }</a:t>
            </a:r>
            <a:endParaRPr lang="en-US" sz="1300" b="0" i="0" u="none" strike="noStrike">
              <a:solidFill>
                <a:srgbClr val="42424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300" b="0" i="0" u="none" strike="noStrike">
              <a:solidFill>
                <a:srgbClr val="42424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E651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⏱ 时间复杂度：O(n²) （平方阶）</a:t>
            </a: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嵌套双层循环结构，执行次数随数据量呈平方级激增，数据量大时效率较低。</a:t>
            </a:r>
            <a:endParaRPr lang="en-US" sz="13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spcBef>
                <a:spcPct val="80000"/>
              </a:spcBef>
            </a:pPr>
            <a:r>
              <a:rPr lang="en-US" sz="1400" b="1" i="0" u="none" strike="noStrike">
                <a:solidFill>
                  <a:srgbClr val="388E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核心规律：</a:t>
            </a:r>
            <a:r>
              <a:rPr lang="en-US" sz="1300" b="0" i="0" u="none" strike="noStrike">
                <a:solidFill>
                  <a:srgbClr val="2121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算法的时间复杂度主要取决于循环的层数与执行次数的数量级，单层循环多为 O(n)，双层嵌套循环常为 O(n²)。</a:t>
            </a:r>
            <a:endParaRPr lang="en-US" sz="1300" b="0" i="0" u="none" strike="noStrike">
              <a:solidFill>
                <a:srgbClr val="2121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32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习题与思考（一）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19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19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9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算法的有穷性是指算法必须满足什么条件？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5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必须包含输出模块 B. 每一步骤都具备可执行性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5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 执行步骤必须有限 D. 每一步骤含义都明确无误</a:t>
            </a:r>
            <a:endParaRPr lang="en-US" sz="1500" b="0" i="0" u="none" strike="noStrike">
              <a:solidFill>
                <a:srgbClr val="3C41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9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下列四种时间复杂度中，算法执行效率最高的是？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5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O(n) B. O(logn) C. O(nlogn) D. O(n²)</a:t>
            </a:r>
            <a:endParaRPr lang="en-US" sz="1500" b="0" i="0" u="none" strike="noStrike">
              <a:solidFill>
                <a:srgbClr val="3C41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5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9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若一个算法的时间复杂度为 O(n²)，这意味着什么？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5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执行时间与 n² 成正比 B. 执行时间恰好等于 n²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500" b="0" i="0" u="none" strike="noStrike">
                <a:solidFill>
                  <a:srgbClr val="3C41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 输入规模固定为 n² D. 执行时间与 n² 无关联</a:t>
            </a:r>
            <a:endParaRPr lang="en-US" sz="1500" b="0" i="0" u="none" strike="noStrike">
              <a:solidFill>
                <a:srgbClr val="3C41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E67E22"/>
              </a:buClr>
              <a:buFont typeface="Wingdings" panose="05000000000000000000"/>
              <a:buChar char="l"/>
            </a:pPr>
            <a:r>
              <a:rPr lang="en-US" sz="1600" b="1" i="0" u="none" strike="noStrike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核心考点：</a:t>
            </a:r>
            <a:r>
              <a:rPr lang="en-US" sz="1500" b="0" i="0" u="none" strike="noStrike">
                <a:solidFill>
                  <a:srgbClr val="5A5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算法的有穷性是指在有限步骤内终止；时间复杂度的量级反映了算法效率随数据规模增长的变化趋势，对数阶优于线性阶，线性阶优于平方阶。</a:t>
            </a:r>
            <a:endParaRPr lang="en-US" sz="1500" b="0" i="0" u="none" strike="noStrike">
              <a:solidFill>
                <a:srgbClr val="5A5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00000"/>
              </a:lnSpc>
              <a:spcBef>
                <a:spcPct val="15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习题与思考（二）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一、填空题</a:t>
            </a: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算法的五大核心特性：有穷性、确定性、可行性、输入性、输出性。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算法性能分析主要包含：时间复杂度分析与空间复杂度分析。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 常见复杂度效率排序（高→低）：O(1) &lt; O(log₂n) &lt; O(n) &lt; O(nlog₂n) &lt; O(n²)。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二、简答题：分析代码时间复杂度</a:t>
            </a: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代码中变量 i 从 1 开始，每次循环执行 i *= 2，直到 i &gt; n 时终止。循环次数 k 满足 2ᵏ ≤ n，即 k ≤ log₂n。因此该算法的时间复杂度为 O(log₂n)（对数阶）。</a:t>
            </a:r>
            <a:endParaRPr lang="en-US" sz="18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1270000"/>
            <a:ext cx="8077200" cy="411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spcBef>
                <a:spcPct val="20000"/>
              </a:spcBef>
              <a:defRPr/>
            </a:pPr>
            <a:r>
              <a:rPr lang="en-US" sz="22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/ 本章回顾 · 筑基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ct val="10000"/>
              </a:spcBef>
            </a:pPr>
            <a:r>
              <a:rPr lang="en-US" sz="17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我们系统梳理了数据结构的基本概念与设计思想，理解了数据组织方式对程序性能的底层影响，掌握了算法效率分析的核心方法，这是构建高效软件的基石。</a:t>
            </a:r>
            <a:endParaRPr lang="en-US" sz="17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ct val="40000"/>
              </a:spcBef>
            </a:pPr>
            <a:r>
              <a:rPr lang="en-US" sz="22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/ 进阶之路 · 探索</a:t>
            </a:r>
            <a:endParaRPr lang="en-US" sz="2200" b="1" i="0" u="none" strike="noStrike">
              <a:solidFill>
                <a:srgbClr val="054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ct val="10000"/>
              </a:spcBef>
            </a:pPr>
            <a:r>
              <a:rPr lang="en-US" sz="17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接下来我们将深入拆解</a:t>
            </a:r>
            <a:r>
              <a:rPr lang="en-US" sz="1700" b="1" i="0" u="none" strike="noStrike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线性表、栈、队列、树、图</a:t>
            </a:r>
            <a:r>
              <a:rPr lang="en-US" sz="17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等经典结构，探索它们的特性与应用场景；并通过实战案例，学会如何用数据结构解决复杂的实际工程问题。</a:t>
            </a:r>
            <a:endParaRPr lang="en-US" sz="17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spcBef>
                <a:spcPct val="40000"/>
              </a:spcBef>
            </a:pPr>
            <a:r>
              <a:rPr lang="en-US" sz="1900" b="1" i="0" u="none" strike="noStrike">
                <a:solidFill>
                  <a:srgbClr val="C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★ 核心心法：选择合适的数据结构，是程序设计的关键所在！</a:t>
            </a:r>
            <a:endParaRPr lang="en-US" sz="1900" b="1" i="0" u="none" strike="noStrike">
              <a:solidFill>
                <a:srgbClr val="C8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9017"/>
            <a:ext cx="8102600" cy="5461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54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800100" indent="-457200"/>
            <a:lvl2pPr marL="1257300" indent="-457200"/>
            <a:lvl3pPr marL="1714500" indent="-457200"/>
            <a:lvl4pPr marL="2171700" indent="-457200"/>
            <a:lvl5pPr marL="2628900" indent="-457200"/>
            <a:lvl6pPr marL="3086100" indent="-457200"/>
            <a:lvl7pPr marL="3543300" indent="-457200"/>
            <a:lvl8pPr marL="4000500" indent="-457200"/>
            <a:lvl9pPr marL="4457700" indent="-4572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  <a:defRPr/>
            </a:pPr>
            <a:r>
              <a:rPr lang="en-US" sz="36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附录：习题答案（一）</a:t>
            </a:r>
            <a:endParaRPr lang="en-US" sz="1100"/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endParaRPr lang="en-US" sz="24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3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第一部分：什么是数据结构</a:t>
            </a:r>
            <a:endParaRPr lang="en-US" sz="24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◆ 选择题答案：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D 2. A 3. D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◆ 填空题答案：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数据元素； 2. 逻辑结构、物理（存储）结构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40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第二部分：基本概念和术语</a:t>
            </a:r>
            <a:endParaRPr lang="en-US" sz="24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◆ 选择题答案：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B 2. C 3. B 4. A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5000"/>
              </a:spcBef>
              <a:buClr>
                <a:srgbClr val="0E9AC7"/>
              </a:buClr>
              <a:buSzPct val="80000"/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◆ 填空题答案：</a:t>
            </a:r>
            <a:r>
              <a:rPr lang="en-US" sz="20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数据项；2. 集合、线性、树形、图形结构；3. 顺序存储、链式存储结构</a:t>
            </a:r>
            <a:endParaRPr lang="en-US" sz="20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6360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9000"/>
          </a:blip>
          <a:srcRect/>
          <a:stretch>
            <a:fillRect/>
          </a:stretch>
        </p:blipFill>
        <p:spPr>
          <a:xfrm>
            <a:off x="6070600" y="1930400"/>
            <a:ext cx="3073400" cy="3784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553200" y="62484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9600" y="381000"/>
            <a:ext cx="7772400" cy="548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92000"/>
              </a:lnSpc>
              <a:spcBef>
                <a:spcPct val="10000"/>
              </a:spcBef>
              <a:buClr>
                <a:srgbClr val="0E9AC7"/>
              </a:buClr>
              <a:buFont typeface="Wingdings" panose="05000000000000000000"/>
              <a:buChar char="l"/>
              <a:defRPr/>
            </a:pPr>
            <a:r>
              <a:rPr lang="en-US" sz="3200" b="1" i="0" u="none" strike="noStrike">
                <a:solidFill>
                  <a:srgbClr val="0E9A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附录：习题答案（二）</a:t>
            </a:r>
            <a:endParaRPr lang="en-US" sz="1100"/>
          </a:p>
          <a:p>
            <a:pPr marL="342900" indent="-342900" algn="l">
              <a:lnSpc>
                <a:spcPct val="100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▍03 抽象数据类型 (ADT)</a:t>
            </a: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5EA1B9"/>
              </a:buClr>
              <a:buFont typeface="Wingdings" panose="05000000000000000000"/>
              <a:buChar char="l"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选择题：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C（抽象数据类型的本质） 2. C（数据封装的体现）</a:t>
            </a:r>
            <a:endParaRPr lang="en-US" sz="16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5EA1B9"/>
              </a:buClr>
              <a:buFont typeface="Wingdings" panose="05000000000000000000"/>
              <a:buChar char="l"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填空题：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数据对象、数据关系、基本操作； 2. 抽象、封装</a:t>
            </a:r>
            <a:endParaRPr lang="en-US" sz="16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3200" indent="-203200" algn="l">
              <a:lnSpc>
                <a:spcPct val="42000"/>
              </a:lnSpc>
              <a:spcBef>
                <a:spcPct val="10000"/>
              </a:spcBef>
              <a:buClr>
                <a:srgbClr val="1F2329"/>
              </a:buClr>
              <a:buFont typeface="Wingdings" panose="05000000000000000000"/>
              <a:buChar char="l"/>
            </a:pPr>
          </a:p>
          <a:p>
            <a:pPr marL="342900" indent="-342900" algn="l">
              <a:lnSpc>
                <a:spcPct val="100000"/>
              </a:lnSpc>
              <a:spcBef>
                <a:spcPct val="30000"/>
              </a:spcBef>
              <a:buClr>
                <a:srgbClr val="0E9AC7"/>
              </a:buClr>
              <a:buFont typeface="Wingdings" panose="05000000000000000000"/>
              <a:buChar char="l"/>
            </a:pPr>
            <a:r>
              <a:rPr lang="en-US" sz="2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▍04 算法与算法分析</a:t>
            </a:r>
            <a:endParaRPr lang="en-US" sz="22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5EA1B9"/>
              </a:buClr>
              <a:buFont typeface="Wingdings" panose="05000000000000000000"/>
              <a:buChar char="l"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选择题：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C（算法有穷性） 2. B（时间复杂度定义） 3. A（空间复杂度）</a:t>
            </a:r>
            <a:endParaRPr lang="en-US" sz="16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5EA1B9"/>
              </a:buClr>
              <a:buFont typeface="Wingdings" panose="05000000000000000000"/>
              <a:buChar char="l"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填空题：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有穷性、确定性、可行性、输入、输出； 2. 时间、空间； 3. O(logn)、O(n)、O(nlogn)</a:t>
            </a:r>
            <a:endParaRPr lang="en-US" sz="16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08000"/>
              </a:lnSpc>
              <a:spcBef>
                <a:spcPct val="10000"/>
              </a:spcBef>
              <a:buClr>
                <a:srgbClr val="5EA1B9"/>
              </a:buClr>
              <a:buFont typeface="Wingdings" panose="05000000000000000000"/>
              <a:buChar char="l"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简答题：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二分查找的时间复杂度为 O(logn)，通过分治策略减半问题规模； 2. 简单嵌套循环算法的时间复杂度为 O(n²)，如基础冒泡排序</a:t>
            </a:r>
            <a:endParaRPr lang="en-US" sz="16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357084"/>
            <a:ext cx="1143000" cy="50091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670" y="0"/>
            <a:ext cx="8550275" cy="615696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</a:pPr>
            <a:r>
              <a:rPr lang="zh-CN" altLang="en-US" sz="2000">
                <a:latin typeface="宋体;SimSun"/>
                <a:ea typeface="宋体;SimSun"/>
              </a:rPr>
              <a:t>计算下列程序或程序段的时间复杂度。</a:t>
            </a:r>
            <a:endParaRPr lang="zh-CN" altLang="en-US" sz="2000">
              <a:latin typeface="宋体;SimSun"/>
              <a:ea typeface="宋体;SimSun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zh-CN" altLang="en-US" sz="1600">
                <a:latin typeface="Courier New" panose="02070309020205020404"/>
                <a:ea typeface="宋体;SimSun"/>
              </a:rPr>
              <a:t>（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1</a:t>
            </a:r>
            <a:r>
              <a:rPr lang="zh-CN" altLang="en-US" sz="1600">
                <a:latin typeface="Courier New" panose="02070309020205020404"/>
                <a:ea typeface="宋体;SimSun"/>
              </a:rPr>
              <a:t>）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for (i=0;i&lt;n;i++)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</a:rPr>
              <a:t>    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for (j=0;j&lt;m;j++)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1600">
                <a:latin typeface="Courier New" panose="02070309020205020404"/>
                <a:ea typeface="宋体;SimSun"/>
              </a:rPr>
              <a:t>    </a:t>
            </a:r>
            <a:r>
              <a:rPr lang="en-US" altLang="zh-CN" sz="2000">
                <a:latin typeface="Times New Roman" panose="02020603050405020304"/>
                <a:ea typeface="宋体;SimSun"/>
              </a:rPr>
              <a:t>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A[i][j]+=5; </a:t>
            </a:r>
            <a:r>
              <a:rPr lang="en-US" altLang="zh-CN" sz="1600">
                <a:latin typeface="Courier New" panose="02070309020205020404"/>
                <a:ea typeface="宋体;SimSun"/>
              </a:rPr>
              <a:t>       </a:t>
            </a:r>
            <a:r>
              <a:rPr lang="zh-CN" altLang="en-US" sz="1600">
                <a:latin typeface="Courier New" panose="02070309020205020404"/>
                <a:ea typeface="宋体;SimSun"/>
              </a:rPr>
              <a:t>时间复杂度为：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O(m*n)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zh-CN" altLang="en-US" sz="1600">
                <a:latin typeface="Courier New" panose="02070309020205020404"/>
                <a:ea typeface="宋体;SimSun"/>
              </a:rPr>
              <a:t>（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2</a:t>
            </a:r>
            <a:r>
              <a:rPr lang="zh-CN" altLang="en-US" sz="1600">
                <a:latin typeface="Courier New" panose="02070309020205020404"/>
                <a:ea typeface="宋体;SimSun"/>
              </a:rPr>
              <a:t>）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int sum(int n)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1600">
                <a:latin typeface="Courier New" panose="02070309020205020404"/>
                <a:ea typeface="宋体;SimSun"/>
              </a:rPr>
              <a:t>    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{  int p=1,s=0,</a:t>
            </a:r>
            <a:r>
              <a:rPr lang="en-US" altLang="zh-CN" sz="2000">
                <a:latin typeface="Times New Roman" panose="02020603050405020304"/>
                <a:ea typeface="宋体;SimSun"/>
              </a:rPr>
              <a:t>i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</a:rPr>
              <a:t>            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for ( </a:t>
            </a:r>
            <a:r>
              <a:rPr lang="en-US" altLang="zh-CN" sz="2000">
                <a:latin typeface="Times New Roman" panose="02020603050405020304"/>
                <a:ea typeface="宋体;SimSun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=1;</a:t>
            </a:r>
            <a:r>
              <a:rPr lang="en-US" altLang="zh-CN" sz="2000">
                <a:latin typeface="Times New Roman" panose="02020603050405020304"/>
                <a:ea typeface="宋体;SimSun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&lt;=n;</a:t>
            </a:r>
            <a:r>
              <a:rPr lang="en-US" altLang="zh-CN" sz="2000">
                <a:latin typeface="Times New Roman" panose="02020603050405020304"/>
                <a:ea typeface="宋体;SimSun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++)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</a:rPr>
              <a:t>             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{   p*=</a:t>
            </a:r>
            <a:r>
              <a:rPr lang="en-US" altLang="zh-CN" sz="2000">
                <a:latin typeface="Times New Roman" panose="02020603050405020304"/>
                <a:ea typeface="宋体;SimSun"/>
              </a:rPr>
              <a:t>i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</a:rPr>
              <a:t>                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s+=p ;   }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</a:rPr>
              <a:t>                 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return  s ;    } </a:t>
            </a:r>
            <a:r>
              <a:rPr lang="en-US" altLang="zh-CN" sz="1600">
                <a:latin typeface="Courier New" panose="02070309020205020404"/>
                <a:ea typeface="宋体;SimSun"/>
              </a:rPr>
              <a:t>       </a:t>
            </a:r>
            <a:r>
              <a:rPr lang="zh-CN" altLang="en-US" sz="1600">
                <a:latin typeface="Courier New" panose="02070309020205020404"/>
                <a:ea typeface="宋体;SimSun"/>
              </a:rPr>
              <a:t>时间复杂度为：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O( n 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5610" y="151765"/>
            <a:ext cx="7820025" cy="6092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</a:pPr>
            <a:r>
              <a:rPr lang="zh-CN" altLang="en-US" sz="2000">
                <a:latin typeface="Times New Roman" panose="02020603050405020304"/>
                <a:ea typeface="宋体;SimSun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3</a:t>
            </a:r>
            <a:r>
              <a:rPr lang="zh-CN" altLang="en-US" sz="2000">
                <a:latin typeface="Times New Roman" panose="02020603050405020304"/>
                <a:ea typeface="宋体;SimSun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void prime( int  n)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{  int 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=2;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     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while ((n%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!=0)&amp;&amp;(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&lt;sqrt(n)))  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++;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     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if  (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&gt;sqrt(n))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     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printf(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“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%d</a:t>
            </a:r>
            <a:r>
              <a:rPr lang="zh-CN" altLang="en-US" sz="2000">
                <a:latin typeface="Times New Roman" panose="02020603050405020304"/>
                <a:ea typeface="宋体;SimSun"/>
                <a:sym typeface="+mn-ea"/>
              </a:rPr>
              <a:t>是一个素数”，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n) ;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     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else   printf(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“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%d</a:t>
            </a:r>
            <a:r>
              <a:rPr lang="zh-CN" altLang="en-US" sz="2000">
                <a:latin typeface="Times New Roman" panose="02020603050405020304"/>
                <a:ea typeface="宋体;SimSun"/>
                <a:sym typeface="+mn-ea"/>
              </a:rPr>
              <a:t>不是一个素数”，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n) ;  }    </a:t>
            </a:r>
            <a:r>
              <a:rPr lang="en-US" altLang="zh-CN" sz="1600">
                <a:latin typeface="Courier New" panose="02070309020205020404"/>
                <a:ea typeface="宋体;SimSun"/>
                <a:sym typeface="+mn-ea"/>
              </a:rPr>
              <a:t>   </a:t>
            </a:r>
            <a:endParaRPr lang="en-US" altLang="zh-CN" sz="1600">
              <a:latin typeface="Courier New" panose="02070309020205020404"/>
              <a:ea typeface="宋体;SimSun"/>
              <a:sym typeface="+mn-ea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1600">
                <a:latin typeface="Courier New" panose="02070309020205020404"/>
                <a:ea typeface="宋体;SimSun"/>
                <a:sym typeface="+mn-ea"/>
              </a:rPr>
              <a:t>    </a:t>
            </a:r>
            <a:r>
              <a:rPr lang="zh-CN" altLang="en-US" sz="1600">
                <a:latin typeface="Courier New" panose="02070309020205020404"/>
                <a:ea typeface="宋体;SimSun"/>
                <a:sym typeface="+mn-ea"/>
              </a:rPr>
              <a:t>时间复杂度为：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O( sqrt(n) 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zh-CN" altLang="en-US" sz="2000">
                <a:latin typeface="Times New Roman" panose="02020603050405020304"/>
                <a:ea typeface="宋体;SimSun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4</a:t>
            </a:r>
            <a:r>
              <a:rPr lang="zh-CN" altLang="en-US" sz="2000">
                <a:latin typeface="Times New Roman" panose="02020603050405020304"/>
                <a:ea typeface="宋体;SimSun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=1;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    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while (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&lt;=n)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     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=</a:t>
            </a: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i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*3;          </a:t>
            </a:r>
            <a:r>
              <a:rPr lang="zh-CN" altLang="en-US" sz="2000">
                <a:latin typeface="Times New Roman" panose="02020603050405020304"/>
                <a:ea typeface="宋体;SimSun"/>
                <a:sym typeface="+mn-ea"/>
              </a:rPr>
              <a:t>时间复杂度为：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O( log</a:t>
            </a:r>
            <a:r>
              <a:rPr lang="en-US" altLang="zh-CN" sz="2000" baseline="-25000">
                <a:latin typeface="Times New Roman" panose="02020603050405020304"/>
                <a:ea typeface="Times New Roman" panose="02020603050405020304"/>
                <a:sym typeface="+mn-ea"/>
              </a:rPr>
              <a:t>3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n 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zh-CN" altLang="en-US" sz="2000">
                <a:latin typeface="Times New Roman" panose="02020603050405020304"/>
                <a:ea typeface="宋体;SimSun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5</a:t>
            </a:r>
            <a:r>
              <a:rPr lang="zh-CN" altLang="en-US" sz="2000">
                <a:latin typeface="Times New Roman" panose="02020603050405020304"/>
                <a:ea typeface="宋体;SimSun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int  fact(int  n)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宋体;SimSun"/>
                <a:sym typeface="+mn-ea"/>
              </a:rPr>
              <a:t>     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{  if (n&lt;=1)   retutn  1;</a:t>
            </a:r>
            <a:endParaRPr lang="en-US" altLang="zh-CN" sz="2000">
              <a:latin typeface="Times New Roman" panose="02020603050405020304"/>
              <a:ea typeface="Times New Roman" panose="02020603050405020304"/>
            </a:endParaRPr>
          </a:p>
          <a:p>
            <a:pPr marL="0" indent="0" algn="just" defTabSz="266700">
              <a:lnSpc>
                <a:spcPct val="150000"/>
              </a:lnSpc>
            </a:pP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else       retutn  n*fact(n-1) ;  }    </a:t>
            </a:r>
            <a:r>
              <a:rPr lang="en-US" altLang="zh-CN" sz="1600">
                <a:latin typeface="Courier New" panose="02070309020205020404"/>
                <a:ea typeface="宋体;SimSun"/>
                <a:sym typeface="+mn-ea"/>
              </a:rPr>
              <a:t>    </a:t>
            </a:r>
            <a:r>
              <a:rPr lang="zh-CN" altLang="en-US" sz="1600">
                <a:latin typeface="Courier New" panose="02070309020205020404"/>
                <a:ea typeface="宋体;SimSun"/>
                <a:sym typeface="+mn-ea"/>
              </a:rPr>
              <a:t>时间复杂度为：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O(n)</a:t>
            </a:r>
            <a:endParaRPr lang="en-US" altLang="zh-CN" sz="2000"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25" y="988695"/>
            <a:ext cx="8540115" cy="50368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1480" y="330835"/>
            <a:ext cx="4777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思政</a:t>
            </a:r>
            <a:endParaRPr lang="zh-CN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10474</Words>
  <Application>WPS 演示</Application>
  <PresentationFormat/>
  <Paragraphs>334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6" baseType="lpstr">
      <vt:lpstr>Arial</vt:lpstr>
      <vt:lpstr>宋体</vt:lpstr>
      <vt:lpstr>Wingdings</vt:lpstr>
      <vt:lpstr>Arial</vt:lpstr>
      <vt:lpstr>微软雅黑</vt:lpstr>
      <vt:lpstr>Wingdings</vt:lpstr>
      <vt:lpstr>Noto Sans SC</vt:lpstr>
      <vt:lpstr>Arial Unicode MS</vt:lpstr>
      <vt:lpstr>宋体;SimSun</vt:lpstr>
      <vt:lpstr>Courier New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徐惠红</cp:lastModifiedBy>
  <cp:revision>2</cp:revision>
  <dcterms:created xsi:type="dcterms:W3CDTF">2026-07-30T12:17:42Z</dcterms:created>
  <dcterms:modified xsi:type="dcterms:W3CDTF">2026-07-30T12:45:28Z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{"Label":"1","ContentProducer":"001191110102MACQD9K64010000","ProduceID":"7668291377901522186","ReservedCode1":"","ContentPropagator":"","PropagateID":"","ReservedCode2":""}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C7230784CD724158A96305F092C42CA2_12</vt:lpwstr>
  </property>
</Properties>
</file>